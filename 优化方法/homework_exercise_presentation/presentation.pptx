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356235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5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1535976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3071952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356235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138629"/>
            <a:ext cx="4032885" cy="1090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06641" y="3351784"/>
            <a:ext cx="92329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385311" y="3351784"/>
            <a:ext cx="6813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73927" y="3351784"/>
            <a:ext cx="27970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18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slide" Target="slide3.xml"/><Relationship Id="rId4" Type="http://schemas.openxmlformats.org/officeDocument/2006/relationships/image" Target="../media/image2.png"/><Relationship Id="rId5" Type="http://schemas.openxmlformats.org/officeDocument/2006/relationships/slide" Target="slide5.xml"/><Relationship Id="rId6" Type="http://schemas.openxmlformats.org/officeDocument/2006/relationships/image" Target="../media/image3.png"/><Relationship Id="rId7" Type="http://schemas.openxmlformats.org/officeDocument/2006/relationships/slide" Target="slide13.xml"/><Relationship Id="rId8" Type="http://schemas.openxmlformats.org/officeDocument/2006/relationships/slide" Target="slide18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5.xml"/><Relationship Id="rId4" Type="http://schemas.openxmlformats.org/officeDocument/2006/relationships/slide" Target="slide4.xml"/><Relationship Id="rId5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743" y="779246"/>
            <a:ext cx="4483735" cy="737870"/>
            <a:chOff x="87743" y="779246"/>
            <a:chExt cx="4483735" cy="737870"/>
          </a:xfrm>
        </p:grpSpPr>
        <p:sp>
          <p:nvSpPr>
            <p:cNvPr id="3" name="object 3" descr=""/>
            <p:cNvSpPr/>
            <p:nvPr/>
          </p:nvSpPr>
          <p:spPr>
            <a:xfrm>
              <a:off x="87743" y="77924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544" y="842504"/>
              <a:ext cx="4432935" cy="674370"/>
            </a:xfrm>
            <a:custGeom>
              <a:avLst/>
              <a:gdLst/>
              <a:ahLst/>
              <a:cxnLst/>
              <a:rect l="l" t="t" r="r" b="b"/>
              <a:pathLst>
                <a:path w="4432935" h="674369">
                  <a:moveTo>
                    <a:pt x="4432566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4432566" y="67428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823667"/>
              <a:ext cx="4432935" cy="642620"/>
            </a:xfrm>
            <a:custGeom>
              <a:avLst/>
              <a:gdLst/>
              <a:ahLst/>
              <a:cxnLst/>
              <a:rect l="l" t="t" r="r" b="b"/>
              <a:pathLst>
                <a:path w="4432935" h="642619">
                  <a:moveTo>
                    <a:pt x="4432566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4381765" y="642319"/>
                  </a:lnTo>
                  <a:lnTo>
                    <a:pt x="4401490" y="638310"/>
                  </a:lnTo>
                  <a:lnTo>
                    <a:pt x="4417643" y="627396"/>
                  </a:lnTo>
                  <a:lnTo>
                    <a:pt x="4428558" y="611243"/>
                  </a:lnTo>
                  <a:lnTo>
                    <a:pt x="4432566" y="59151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8544" y="842504"/>
            <a:ext cx="4432935" cy="67437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45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Programming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Exercise</a:t>
            </a:r>
            <a:r>
              <a:rPr dirty="0" sz="14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Report</a:t>
            </a:r>
            <a:endParaRPr sz="1400">
              <a:latin typeface="Tahoma"/>
              <a:cs typeface="Tahoma"/>
            </a:endParaRPr>
          </a:p>
          <a:p>
            <a:pPr algn="ctr" marR="95250">
              <a:lnSpc>
                <a:spcPct val="100000"/>
              </a:lnSpc>
              <a:spcBef>
                <a:spcPts val="325"/>
              </a:spcBef>
            </a:pP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Quadratic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Programming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Tahoma"/>
                <a:cs typeface="Tahoma"/>
              </a:rPr>
              <a:t>Interior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Point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Method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20444" y="1676068"/>
            <a:ext cx="1567815" cy="745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 spc="-55">
                <a:latin typeface="Tahoma"/>
                <a:cs typeface="Tahoma"/>
              </a:rPr>
              <a:t>08023214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Zhangyunyixuan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100" spc="-45">
                <a:latin typeface="Tahoma"/>
                <a:cs typeface="Tahoma"/>
              </a:rPr>
              <a:t>December </a:t>
            </a:r>
            <a:r>
              <a:rPr dirty="0" sz="1100" spc="-25">
                <a:latin typeface="Tahoma"/>
                <a:cs typeface="Tahoma"/>
              </a:rPr>
              <a:t>21,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2025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8"/>
            <a:ext cx="56769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Outline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113091"/>
            <a:ext cx="160096" cy="1600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9743" y="1112429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5173" y="1084997"/>
            <a:ext cx="11182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Problem</a:t>
            </a: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2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Definition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659509"/>
            <a:ext cx="160096" cy="16009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29743" y="165886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95173" y="1631415"/>
            <a:ext cx="21069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Solution</a:t>
            </a:r>
            <a:r>
              <a:rPr dirty="0" sz="1100" spc="-35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with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Interior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Point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Method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2205939"/>
            <a:ext cx="160096" cy="1600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9743" y="220527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95173" y="2177845"/>
            <a:ext cx="16262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Comparison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with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Calibri"/>
                <a:cs typeface="Calibri"/>
                <a:hlinkClick r:id="rId7" action="ppaction://hlinksldjump"/>
              </a:rPr>
              <a:t>quadprog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10"/>
              <a:t>1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Problem</a:t>
            </a:r>
            <a:r>
              <a:rPr dirty="0" spc="-35"/>
              <a:t> </a:t>
            </a:r>
            <a:r>
              <a:rPr dirty="0" spc="-20"/>
              <a:t>Definition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405585"/>
            <a:ext cx="3347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 b="1">
                <a:latin typeface="Arial"/>
                <a:cs typeface="Arial"/>
              </a:rPr>
              <a:t>Solve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following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quadratic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programming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problem: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22094" y="832039"/>
            <a:ext cx="3206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latin typeface="Arial"/>
                <a:cs typeface="Arial"/>
              </a:rPr>
              <a:t>x</a:t>
            </a:r>
            <a:r>
              <a:rPr dirty="0" sz="800" spc="-145" i="1">
                <a:latin typeface="Arial"/>
                <a:cs typeface="Arial"/>
              </a:rPr>
              <a:t> </a:t>
            </a:r>
            <a:r>
              <a:rPr dirty="0" sz="800" spc="-25">
                <a:latin typeface="Lucida Sans Unicode"/>
                <a:cs typeface="Lucida Sans Unicode"/>
              </a:rPr>
              <a:t>∈</a:t>
            </a:r>
            <a:r>
              <a:rPr dirty="0" sz="800" spc="-25">
                <a:latin typeface="Arial MT"/>
                <a:cs typeface="Arial MT"/>
              </a:rPr>
              <a:t>R</a:t>
            </a:r>
            <a:r>
              <a:rPr dirty="0" baseline="23148" sz="900" spc="-37">
                <a:latin typeface="Tahoma"/>
                <a:cs typeface="Tahoma"/>
              </a:rPr>
              <a:t>4</a:t>
            </a:r>
            <a:endParaRPr baseline="23148" sz="90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064207" y="80959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051507" y="788021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39862" y="599260"/>
            <a:ext cx="1346200" cy="285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24180">
              <a:lnSpc>
                <a:spcPts val="103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ts val="1030"/>
              </a:lnSpc>
              <a:tabLst>
                <a:tab pos="508634" algn="l"/>
              </a:tabLst>
            </a:pPr>
            <a:r>
              <a:rPr dirty="0" sz="1100" spc="-25">
                <a:latin typeface="Tahoma"/>
                <a:cs typeface="Tahoma"/>
              </a:rPr>
              <a:t>min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5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baseline="31250" sz="1200" spc="127" i="1">
                <a:latin typeface="Arial"/>
                <a:cs typeface="Arial"/>
              </a:rPr>
              <a:t>T</a:t>
            </a:r>
            <a:r>
              <a:rPr dirty="0" baseline="31250" sz="1200" spc="-10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Qx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55" i="1">
                <a:latin typeface="Arial"/>
                <a:cs typeface="Arial"/>
              </a:rPr>
              <a:t>c</a:t>
            </a:r>
            <a:r>
              <a:rPr dirty="0" baseline="31250" sz="1200" spc="82" i="1">
                <a:latin typeface="Arial"/>
                <a:cs typeface="Arial"/>
              </a:rPr>
              <a:t>T</a:t>
            </a:r>
            <a:r>
              <a:rPr dirty="0" baseline="31250" sz="1200" spc="-104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spc="-25" i="1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02891" y="111526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692262" y="1043684"/>
            <a:ext cx="9874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56235" algn="l"/>
              </a:tabLst>
            </a:pPr>
            <a:r>
              <a:rPr dirty="0" sz="1100" spc="-20">
                <a:latin typeface="Tahoma"/>
                <a:cs typeface="Tahoma"/>
              </a:rPr>
              <a:t>s.t.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31250" sz="1200" i="1">
                <a:latin typeface="Arial"/>
                <a:cs typeface="Arial"/>
              </a:rPr>
              <a:t>T</a:t>
            </a:r>
            <a:r>
              <a:rPr dirty="0" baseline="31250" sz="1200" spc="-10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≤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>
                <a:latin typeface="Tahoma"/>
                <a:cs typeface="Tahoma"/>
              </a:rPr>
              <a:t>1</a:t>
            </a:r>
            <a:r>
              <a:rPr dirty="0" sz="1100" spc="-25" i="1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02891" y="137029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10917" y="1298713"/>
            <a:ext cx="669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31250" sz="1200" i="1">
                <a:latin typeface="Arial"/>
                <a:cs typeface="Arial"/>
              </a:rPr>
              <a:t>T</a:t>
            </a:r>
            <a:r>
              <a:rPr dirty="0" baseline="31250" sz="1200" spc="-10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≤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>
                <a:latin typeface="Tahoma"/>
                <a:cs typeface="Tahoma"/>
              </a:rPr>
              <a:t>2</a:t>
            </a:r>
            <a:r>
              <a:rPr dirty="0" sz="1100" spc="-25" i="1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Problem</a:t>
            </a:r>
            <a:r>
              <a:rPr dirty="0" spc="-35"/>
              <a:t> </a:t>
            </a:r>
            <a:r>
              <a:rPr dirty="0" spc="-20"/>
              <a:t>Definition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405585"/>
            <a:ext cx="33477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 b="1">
                <a:latin typeface="Arial"/>
                <a:cs typeface="Arial"/>
              </a:rPr>
              <a:t>Solve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the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40" b="1">
                <a:latin typeface="Arial"/>
                <a:cs typeface="Arial"/>
              </a:rPr>
              <a:t>following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quadratic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50" b="1">
                <a:latin typeface="Arial"/>
                <a:cs typeface="Arial"/>
              </a:rPr>
              <a:t>programming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problem: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064207" y="80959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 h="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051507" y="788021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609394" y="599260"/>
            <a:ext cx="1389380" cy="379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54659">
              <a:lnSpc>
                <a:spcPts val="103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67945">
              <a:lnSpc>
                <a:spcPts val="919"/>
              </a:lnSpc>
              <a:tabLst>
                <a:tab pos="539115" algn="l"/>
              </a:tabLst>
            </a:pPr>
            <a:r>
              <a:rPr dirty="0" sz="1100" spc="-25">
                <a:latin typeface="Tahoma"/>
                <a:cs typeface="Tahoma"/>
              </a:rPr>
              <a:t>min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sz="1100" spc="-55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baseline="31250" sz="1200" spc="127" i="1">
                <a:latin typeface="Arial"/>
                <a:cs typeface="Arial"/>
              </a:rPr>
              <a:t>T</a:t>
            </a:r>
            <a:r>
              <a:rPr dirty="0" baseline="31250" sz="1200" spc="-10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Qx</a:t>
            </a:r>
            <a:r>
              <a:rPr dirty="0" sz="1100" spc="-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55" i="1">
                <a:latin typeface="Arial"/>
                <a:cs typeface="Arial"/>
              </a:rPr>
              <a:t>c</a:t>
            </a:r>
            <a:r>
              <a:rPr dirty="0" baseline="31250" sz="1200" spc="82" i="1">
                <a:latin typeface="Arial"/>
                <a:cs typeface="Arial"/>
              </a:rPr>
              <a:t>T</a:t>
            </a:r>
            <a:r>
              <a:rPr dirty="0" baseline="31250" sz="1200" spc="-104" i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x</a:t>
            </a:r>
            <a:r>
              <a:rPr dirty="0" sz="1100" spc="-25" i="1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  <a:p>
            <a:pPr marL="50800">
              <a:lnSpc>
                <a:spcPts val="850"/>
              </a:lnSpc>
            </a:pPr>
            <a:r>
              <a:rPr dirty="0" sz="800" spc="-20" i="1">
                <a:latin typeface="Arial"/>
                <a:cs typeface="Arial"/>
              </a:rPr>
              <a:t>x</a:t>
            </a:r>
            <a:r>
              <a:rPr dirty="0" sz="800" spc="-145" i="1">
                <a:latin typeface="Arial"/>
                <a:cs typeface="Arial"/>
              </a:rPr>
              <a:t> </a:t>
            </a:r>
            <a:r>
              <a:rPr dirty="0" sz="800" spc="-25">
                <a:latin typeface="Lucida Sans Unicode"/>
                <a:cs typeface="Lucida Sans Unicode"/>
              </a:rPr>
              <a:t>∈</a:t>
            </a:r>
            <a:r>
              <a:rPr dirty="0" sz="800" spc="-25">
                <a:latin typeface="Arial MT"/>
                <a:cs typeface="Arial MT"/>
              </a:rPr>
              <a:t>R</a:t>
            </a:r>
            <a:r>
              <a:rPr dirty="0" baseline="23148" sz="900" spc="-37">
                <a:latin typeface="Tahoma"/>
                <a:cs typeface="Tahoma"/>
              </a:rPr>
              <a:t>4</a:t>
            </a:r>
            <a:endParaRPr baseline="23148" sz="9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717662" y="1043684"/>
            <a:ext cx="2057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s.t.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102891" y="1115262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011083" y="1043684"/>
            <a:ext cx="668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31250" sz="1200" i="1">
                <a:latin typeface="Arial"/>
                <a:cs typeface="Arial"/>
              </a:rPr>
              <a:t>T</a:t>
            </a:r>
            <a:r>
              <a:rPr dirty="0" baseline="31250" sz="1200" spc="-10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≤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>
                <a:latin typeface="Tahoma"/>
                <a:cs typeface="Tahoma"/>
              </a:rPr>
              <a:t>1</a:t>
            </a:r>
            <a:r>
              <a:rPr dirty="0" sz="1100" spc="-25" i="1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02891" y="1370290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010917" y="1298713"/>
            <a:ext cx="669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31250" sz="1200" i="1">
                <a:latin typeface="Arial"/>
                <a:cs typeface="Arial"/>
              </a:rPr>
              <a:t>T</a:t>
            </a:r>
            <a:r>
              <a:rPr dirty="0" baseline="31250" sz="1200" spc="-10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≤</a:t>
            </a:r>
            <a:r>
              <a:rPr dirty="0" sz="1100" spc="-70">
                <a:latin typeface="Lucida Sans Unicode"/>
                <a:cs typeface="Lucida Sans Unicode"/>
              </a:rPr>
              <a:t> </a:t>
            </a:r>
            <a:r>
              <a:rPr dirty="0" sz="1100" spc="-25" i="1">
                <a:latin typeface="Arial"/>
                <a:cs typeface="Arial"/>
              </a:rPr>
              <a:t>b</a:t>
            </a:r>
            <a:r>
              <a:rPr dirty="0" baseline="-10416" sz="1200" spc="-37">
                <a:latin typeface="Tahoma"/>
                <a:cs typeface="Tahoma"/>
              </a:rPr>
              <a:t>2</a:t>
            </a:r>
            <a:r>
              <a:rPr dirty="0" sz="1100" spc="-25" i="1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5844" y="1522462"/>
            <a:ext cx="4375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Where: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57783" y="2078430"/>
            <a:ext cx="146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Lucida Sans Unicode"/>
                <a:cs typeface="Lucida Sans Unicode"/>
              </a:rPr>
              <a:t>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32383" y="1662797"/>
            <a:ext cx="266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Lucida Sans Unicode"/>
                <a:cs typeface="Lucida Sans Unicode"/>
              </a:rPr>
              <a:t></a:t>
            </a:r>
            <a:r>
              <a:rPr dirty="0" baseline="-40404" sz="1650" spc="-37">
                <a:latin typeface="Tahoma"/>
                <a:cs typeface="Tahoma"/>
              </a:rPr>
              <a:t>4</a:t>
            </a:r>
            <a:endParaRPr baseline="-40404" sz="16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79004" y="2110218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70673" y="2110218"/>
            <a:ext cx="2908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6</a:t>
            </a:r>
            <a:r>
              <a:rPr dirty="0" sz="1100" spc="125">
                <a:latin typeface="Tahoma"/>
                <a:cs typeface="Tahoma"/>
              </a:rPr>
              <a:t>  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41038" y="1662797"/>
            <a:ext cx="2667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40404" sz="1650" spc="-37">
                <a:latin typeface="Tahoma"/>
                <a:cs typeface="Tahoma"/>
              </a:rPr>
              <a:t>0</a:t>
            </a:r>
            <a:r>
              <a:rPr dirty="0" sz="1100" spc="-25">
                <a:latin typeface="Lucida Sans Unicode"/>
                <a:cs typeface="Lucida Sans Unicode"/>
              </a:rPr>
              <a:t>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97103" y="1766073"/>
            <a:ext cx="1348740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90245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125">
                <a:latin typeface="Tahoma"/>
                <a:cs typeface="Tahoma"/>
              </a:rPr>
              <a:t>  </a:t>
            </a:r>
            <a:r>
              <a:rPr dirty="0" sz="1100" spc="-6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494030">
              <a:lnSpc>
                <a:spcPts val="865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12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2</a:t>
            </a:r>
            <a:r>
              <a:rPr dirty="0" sz="1100" spc="12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125">
                <a:latin typeface="Tahoma"/>
                <a:cs typeface="Tahoma"/>
              </a:rPr>
              <a:t>  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76200">
              <a:lnSpc>
                <a:spcPts val="865"/>
              </a:lnSpc>
              <a:tabLst>
                <a:tab pos="690245" algn="l"/>
                <a:tab pos="1150620" algn="l"/>
              </a:tabLst>
            </a:pPr>
            <a:r>
              <a:rPr dirty="0" baseline="-12626" sz="1650" i="1">
                <a:latin typeface="Arial"/>
                <a:cs typeface="Arial"/>
              </a:rPr>
              <a:t>Q</a:t>
            </a:r>
            <a:r>
              <a:rPr dirty="0" baseline="-12626" sz="1650" spc="97" i="1">
                <a:latin typeface="Arial"/>
                <a:cs typeface="Arial"/>
              </a:rPr>
              <a:t> </a:t>
            </a:r>
            <a:r>
              <a:rPr dirty="0" baseline="-12626" sz="1650">
                <a:latin typeface="Tahoma"/>
                <a:cs typeface="Tahoma"/>
              </a:rPr>
              <a:t>=</a:t>
            </a:r>
            <a:r>
              <a:rPr dirty="0" baseline="-12626" sz="1650" spc="-67">
                <a:latin typeface="Tahoma"/>
                <a:cs typeface="Tahoma"/>
              </a:rPr>
              <a:t> </a:t>
            </a:r>
            <a:r>
              <a:rPr dirty="0" sz="1100" spc="-60">
                <a:latin typeface="Lucida Sans Unicode"/>
                <a:cs typeface="Lucida Sans Unicode"/>
              </a:rPr>
              <a:t>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baseline="-47979" sz="1650" spc="-75">
                <a:latin typeface="Tahoma"/>
                <a:cs typeface="Tahoma"/>
              </a:rPr>
              <a:t>0</a:t>
            </a:r>
            <a:r>
              <a:rPr dirty="0" baseline="-47979" sz="1650">
                <a:latin typeface="Tahoma"/>
                <a:cs typeface="Tahoma"/>
              </a:rPr>
              <a:t>	</a:t>
            </a:r>
            <a:r>
              <a:rPr dirty="0" sz="1100" spc="-50">
                <a:latin typeface="Lucida Sans Unicode"/>
                <a:cs typeface="Lucida Sans Unicode"/>
              </a:rPr>
              <a:t></a:t>
            </a:r>
            <a:endParaRPr sz="1100">
              <a:latin typeface="Lucida Sans Unicode"/>
              <a:cs typeface="Lucida Sans Unicode"/>
            </a:endParaRPr>
          </a:p>
          <a:p>
            <a:pPr marL="494030">
              <a:lnSpc>
                <a:spcPct val="100000"/>
              </a:lnSpc>
              <a:spcBef>
                <a:spcPts val="985"/>
              </a:spcBef>
            </a:pP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12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125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125">
                <a:latin typeface="Tahoma"/>
                <a:cs typeface="Tahoma"/>
              </a:rPr>
              <a:t>  </a:t>
            </a:r>
            <a:r>
              <a:rPr dirty="0" sz="1100" spc="-50">
                <a:latin typeface="Tahoma"/>
                <a:cs typeface="Tahoma"/>
              </a:rPr>
              <a:t>8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635683" y="2078430"/>
            <a:ext cx="146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95">
                <a:latin typeface="Lucida Sans Unicode"/>
                <a:cs typeface="Lucida Sans Unicode"/>
              </a:rPr>
              <a:t>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32383" y="2512541"/>
            <a:ext cx="3879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Lucida Sans Unicode"/>
                <a:cs typeface="Lucida Sans Unicode"/>
              </a:rPr>
              <a:t></a:t>
            </a:r>
            <a:r>
              <a:rPr dirty="0" baseline="-40404" sz="1650" spc="-60">
                <a:latin typeface="Tahoma"/>
                <a:cs typeface="Tahoma"/>
              </a:rPr>
              <a:t>1</a:t>
            </a:r>
            <a:r>
              <a:rPr dirty="0" sz="1100" spc="-40">
                <a:latin typeface="Lucida Sans Unicode"/>
                <a:cs typeface="Lucida Sans Unicode"/>
              </a:rPr>
              <a:t>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79017" y="2959962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79017" y="3132034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57783" y="2928186"/>
            <a:ext cx="337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</a:t>
            </a:r>
            <a:r>
              <a:rPr dirty="0" sz="1100" spc="40">
                <a:latin typeface="Lucida Sans Unicode"/>
                <a:cs typeface="Lucida Sans Unicode"/>
              </a:rPr>
              <a:t> </a:t>
            </a:r>
            <a:r>
              <a:rPr dirty="0" sz="1100" spc="-95">
                <a:latin typeface="Lucida Sans Unicode"/>
                <a:cs typeface="Lucida Sans Unicode"/>
              </a:rPr>
              <a:t>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08279" y="2787890"/>
            <a:ext cx="1334135" cy="278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289560">
              <a:lnSpc>
                <a:spcPts val="1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ts val="1000"/>
              </a:lnSpc>
              <a:tabLst>
                <a:tab pos="896619" algn="l"/>
              </a:tabLst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>
                <a:latin typeface="Tahoma"/>
                <a:cs typeface="Tahoma"/>
              </a:rPr>
              <a:t>1</a:t>
            </a:r>
            <a:r>
              <a:rPr dirty="0" baseline="-10416" sz="1200" spc="2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baseline="12626" sz="1650">
                <a:latin typeface="Lucida Sans Unicode"/>
                <a:cs typeface="Lucida Sans Unicode"/>
              </a:rPr>
              <a:t></a:t>
            </a:r>
            <a:r>
              <a:rPr dirty="0" baseline="12626" sz="1650" spc="165">
                <a:latin typeface="Lucida Sans Unicode"/>
                <a:cs typeface="Lucida Sans Unicode"/>
              </a:rPr>
              <a:t> </a:t>
            </a:r>
            <a:r>
              <a:rPr dirty="0" baseline="12626" sz="1650" spc="-240">
                <a:latin typeface="Lucida Sans Unicode"/>
                <a:cs typeface="Lucida Sans Unicode"/>
              </a:rPr>
              <a:t></a:t>
            </a:r>
            <a:r>
              <a:rPr dirty="0" baseline="12626" sz="1650" spc="-254">
                <a:latin typeface="Lucida Sans Unicode"/>
                <a:cs typeface="Lucida Sans Unicode"/>
              </a:rPr>
              <a:t> </a:t>
            </a:r>
            <a:r>
              <a:rPr dirty="0" sz="1100" spc="-50" i="1">
                <a:latin typeface="Verdana"/>
                <a:cs typeface="Verdana"/>
              </a:rPr>
              <a:t>,</a:t>
            </a:r>
            <a:r>
              <a:rPr dirty="0" sz="1100" i="1">
                <a:latin typeface="Verdana"/>
                <a:cs typeface="Verdana"/>
              </a:rPr>
              <a:t>	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0416" sz="1200">
                <a:latin typeface="Tahoma"/>
                <a:cs typeface="Tahoma"/>
              </a:rPr>
              <a:t>1</a:t>
            </a:r>
            <a:r>
              <a:rPr dirty="0" baseline="-10416" sz="12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090202" y="1662797"/>
            <a:ext cx="4959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Lucida Sans Unicode"/>
                <a:cs typeface="Lucida Sans Unicode"/>
              </a:rPr>
              <a:t></a:t>
            </a:r>
            <a:r>
              <a:rPr dirty="0" baseline="-40404" sz="1650" spc="-44">
                <a:latin typeface="Lucida Sans Unicode"/>
                <a:cs typeface="Lucida Sans Unicode"/>
              </a:rPr>
              <a:t>−</a:t>
            </a:r>
            <a:r>
              <a:rPr dirty="0" baseline="-40404" sz="1650" spc="-44">
                <a:latin typeface="Tahoma"/>
                <a:cs typeface="Tahoma"/>
              </a:rPr>
              <a:t>8</a:t>
            </a:r>
            <a:r>
              <a:rPr dirty="0" sz="1100" spc="-30">
                <a:latin typeface="Lucida Sans Unicode"/>
                <a:cs typeface="Lucida Sans Unicode"/>
              </a:rPr>
              <a:t>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236823" y="2110218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Lucida Sans Unicode"/>
                <a:cs typeface="Lucida Sans Unicode"/>
              </a:rPr>
              <a:t>−</a:t>
            </a:r>
            <a:r>
              <a:rPr dirty="0" sz="1100" spc="-25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236823" y="2282290"/>
            <a:ext cx="202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Lucida Sans Unicode"/>
                <a:cs typeface="Lucida Sans Unicode"/>
              </a:rPr>
              <a:t>−</a:t>
            </a:r>
            <a:r>
              <a:rPr dirty="0" sz="1100" spc="-25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832354" y="1938145"/>
            <a:ext cx="753745" cy="2438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16559">
              <a:lnSpc>
                <a:spcPts val="865"/>
              </a:lnSpc>
              <a:spcBef>
                <a:spcPts val="90"/>
              </a:spcBef>
            </a:pPr>
            <a:r>
              <a:rPr dirty="0" sz="1100" spc="-25">
                <a:latin typeface="Lucida Sans Unicode"/>
                <a:cs typeface="Lucida Sans Unicode"/>
              </a:rPr>
              <a:t>−</a:t>
            </a:r>
            <a:r>
              <a:rPr dirty="0" sz="1100" spc="-25">
                <a:latin typeface="Tahoma"/>
                <a:cs typeface="Tahoma"/>
              </a:rPr>
              <a:t>6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ts val="865"/>
              </a:lnSpc>
              <a:tabLst>
                <a:tab pos="593725" algn="l"/>
              </a:tabLst>
            </a:pPr>
            <a:r>
              <a:rPr dirty="0" baseline="-12626" sz="1650" i="1">
                <a:latin typeface="Arial"/>
                <a:cs typeface="Arial"/>
              </a:rPr>
              <a:t>c</a:t>
            </a:r>
            <a:r>
              <a:rPr dirty="0" baseline="-12626" sz="1650" spc="104" i="1">
                <a:latin typeface="Arial"/>
                <a:cs typeface="Arial"/>
              </a:rPr>
              <a:t> </a:t>
            </a:r>
            <a:r>
              <a:rPr dirty="0" baseline="-12626" sz="1650">
                <a:latin typeface="Tahoma"/>
                <a:cs typeface="Tahoma"/>
              </a:rPr>
              <a:t>=</a:t>
            </a:r>
            <a:r>
              <a:rPr dirty="0" baseline="-12626" sz="1650" spc="-82">
                <a:latin typeface="Tahoma"/>
                <a:cs typeface="Tahoma"/>
              </a:rPr>
              <a:t> </a:t>
            </a:r>
            <a:r>
              <a:rPr dirty="0" sz="1100" spc="-50">
                <a:latin typeface="Lucida Sans Unicode"/>
                <a:cs typeface="Lucida Sans Unicode"/>
              </a:rPr>
              <a:t>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50">
                <a:latin typeface="Lucida Sans Unicode"/>
                <a:cs typeface="Lucida Sans Unicode"/>
              </a:rPr>
              <a:t>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115602" y="2078430"/>
            <a:ext cx="4451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10515" algn="l"/>
              </a:tabLst>
            </a:pPr>
            <a:r>
              <a:rPr dirty="0" sz="1100" spc="-50">
                <a:latin typeface="Lucida Sans Unicode"/>
                <a:cs typeface="Lucida Sans Unicode"/>
              </a:rPr>
              <a:t>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90">
                <a:latin typeface="Lucida Sans Unicode"/>
                <a:cs typeface="Lucida Sans Unicode"/>
              </a:rPr>
              <a:t>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090202" y="2512541"/>
            <a:ext cx="3879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40">
                <a:latin typeface="Lucida Sans Unicode"/>
                <a:cs typeface="Lucida Sans Unicode"/>
              </a:rPr>
              <a:t></a:t>
            </a:r>
            <a:r>
              <a:rPr dirty="0" baseline="-40404" sz="1650" spc="-60">
                <a:latin typeface="Tahoma"/>
                <a:cs typeface="Tahoma"/>
              </a:rPr>
              <a:t>0</a:t>
            </a:r>
            <a:r>
              <a:rPr dirty="0" sz="1100" spc="-40">
                <a:latin typeface="Lucida Sans Unicode"/>
                <a:cs typeface="Lucida Sans Unicode"/>
              </a:rPr>
              <a:t>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3236836" y="2959962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236836" y="3132034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  <a:hlinkClick r:id="rId2" action="ppaction://hlinksldjump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115602" y="2928186"/>
            <a:ext cx="3371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  <a:hlinkClick r:id="rId3" action="ppaction://hlinksldjump"/>
              </a:rPr>
              <a:t></a:t>
            </a:r>
            <a:r>
              <a:rPr dirty="0" sz="1100" spc="40">
                <a:latin typeface="Lucida Sans Unicode"/>
                <a:cs typeface="Lucida Sans Unicode"/>
              </a:rPr>
              <a:t> </a:t>
            </a:r>
            <a:r>
              <a:rPr dirty="0" sz="1100" spc="-95">
                <a:latin typeface="Lucida Sans Unicode"/>
                <a:cs typeface="Lucida Sans Unicode"/>
                <a:hlinkClick r:id="rId4" action="ppaction://hlinksldjump"/>
              </a:rPr>
              <a:t>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766098" y="2787890"/>
            <a:ext cx="1334135" cy="278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289560">
              <a:lnSpc>
                <a:spcPts val="1000"/>
              </a:lnSpc>
              <a:spcBef>
                <a:spcPts val="90"/>
              </a:spcBef>
            </a:pPr>
            <a:r>
              <a:rPr dirty="0" sz="1100" spc="-5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ts val="1000"/>
              </a:lnSpc>
              <a:tabLst>
                <a:tab pos="896619" algn="l"/>
              </a:tabLst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-10416" sz="1200">
                <a:latin typeface="Tahoma"/>
                <a:cs typeface="Tahoma"/>
              </a:rPr>
              <a:t>2</a:t>
            </a:r>
            <a:r>
              <a:rPr dirty="0" baseline="-10416" sz="1200" spc="22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baseline="12626" sz="1650">
                <a:latin typeface="Lucida Sans Unicode"/>
                <a:cs typeface="Lucida Sans Unicode"/>
              </a:rPr>
              <a:t></a:t>
            </a:r>
            <a:r>
              <a:rPr dirty="0" baseline="12626" sz="1650" spc="165">
                <a:latin typeface="Lucida Sans Unicode"/>
                <a:cs typeface="Lucida Sans Unicode"/>
              </a:rPr>
              <a:t> </a:t>
            </a:r>
            <a:r>
              <a:rPr dirty="0" baseline="12626" sz="1650" spc="-240">
                <a:latin typeface="Lucida Sans Unicode"/>
                <a:cs typeface="Lucida Sans Unicode"/>
              </a:rPr>
              <a:t></a:t>
            </a:r>
            <a:r>
              <a:rPr dirty="0" baseline="12626" sz="1650" spc="-254">
                <a:latin typeface="Lucida Sans Unicode"/>
                <a:cs typeface="Lucida Sans Unicode"/>
              </a:rPr>
              <a:t> </a:t>
            </a:r>
            <a:r>
              <a:rPr dirty="0" sz="1100" spc="-50" i="1">
                <a:latin typeface="Verdana"/>
                <a:cs typeface="Verdana"/>
              </a:rPr>
              <a:t>,</a:t>
            </a:r>
            <a:r>
              <a:rPr dirty="0" sz="1100" i="1">
                <a:latin typeface="Verdana"/>
                <a:cs typeface="Verdana"/>
              </a:rPr>
              <a:t>	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0416" sz="1200">
                <a:latin typeface="Tahoma"/>
                <a:cs typeface="Tahoma"/>
              </a:rPr>
              <a:t>2</a:t>
            </a:r>
            <a:r>
              <a:rPr dirty="0" baseline="-10416" sz="1200" spc="1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6" name="object 3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40" name="object 40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42" name="object 42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Step</a:t>
            </a:r>
            <a:r>
              <a:rPr dirty="0" spc="-85"/>
              <a:t> </a:t>
            </a:r>
            <a:r>
              <a:rPr dirty="0"/>
              <a:t>1:</a:t>
            </a:r>
            <a:r>
              <a:rPr dirty="0" spc="35"/>
              <a:t> </a:t>
            </a:r>
            <a:r>
              <a:rPr dirty="0" spc="-20"/>
              <a:t>Constructing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20"/>
              <a:t>Barrier</a:t>
            </a:r>
            <a:r>
              <a:rPr dirty="0" spc="-85"/>
              <a:t> </a:t>
            </a:r>
            <a:r>
              <a:rPr dirty="0" spc="-1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512926"/>
            <a:ext cx="3055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problem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transformed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barrier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function: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91271" y="851432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64332" y="80930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91155" y="813535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04680" y="1151139"/>
            <a:ext cx="1987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52307" y="925282"/>
            <a:ext cx="17703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6415" algn="l"/>
                <a:tab pos="1684020" algn="l"/>
              </a:tabLst>
            </a:pPr>
            <a:r>
              <a:rPr dirty="0" sz="800" spc="35" i="1">
                <a:latin typeface="Arial"/>
                <a:cs typeface="Arial"/>
              </a:rPr>
              <a:t>T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25" i="1">
                <a:latin typeface="Arial"/>
                <a:cs typeface="Arial"/>
              </a:rPr>
              <a:t>T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35" i="1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19107" y="1016811"/>
            <a:ext cx="3797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15595" algn="l"/>
              </a:tabLst>
            </a:pPr>
            <a:r>
              <a:rPr dirty="0" baseline="6944" sz="1200" spc="-75" i="1">
                <a:latin typeface="Arial"/>
                <a:cs typeface="Arial"/>
              </a:rPr>
              <a:t>i</a:t>
            </a:r>
            <a:r>
              <a:rPr dirty="0" baseline="6944" sz="12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9739" y="945158"/>
            <a:ext cx="2788920" cy="2870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694055" marR="30480" indent="-656590">
              <a:lnSpc>
                <a:spcPct val="56699"/>
              </a:lnSpc>
              <a:spcBef>
                <a:spcPts val="660"/>
              </a:spcBef>
              <a:tabLst>
                <a:tab pos="778510" algn="l"/>
                <a:tab pos="2016760" algn="l"/>
              </a:tabLst>
            </a:pP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baseline="31250" sz="1200" spc="-15">
                <a:latin typeface="Lucida Sans Unicode"/>
                <a:cs typeface="Lucida Sans Unicode"/>
              </a:rPr>
              <a:t>′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0" i="1">
                <a:latin typeface="Verdana"/>
                <a:cs typeface="Verdana"/>
              </a:rPr>
              <a:t>,</a:t>
            </a:r>
            <a:r>
              <a:rPr dirty="0" sz="1100" spc="-195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	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409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Qx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4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50" i="1">
                <a:latin typeface="Arial"/>
                <a:cs typeface="Arial"/>
              </a:rPr>
              <a:t>r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ln(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150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345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 2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Step</a:t>
            </a:r>
            <a:r>
              <a:rPr dirty="0" spc="-85"/>
              <a:t> </a:t>
            </a:r>
            <a:r>
              <a:rPr dirty="0"/>
              <a:t>1:</a:t>
            </a:r>
            <a:r>
              <a:rPr dirty="0" spc="35"/>
              <a:t> </a:t>
            </a:r>
            <a:r>
              <a:rPr dirty="0" spc="-20"/>
              <a:t>Constructing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20"/>
              <a:t>Barrier</a:t>
            </a:r>
            <a:r>
              <a:rPr dirty="0" spc="-85"/>
              <a:t> </a:t>
            </a:r>
            <a:r>
              <a:rPr dirty="0" spc="-1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512926"/>
            <a:ext cx="3055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problem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transformed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barrier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function: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91271" y="851432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64332" y="80930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91155" y="813535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04680" y="1151139"/>
            <a:ext cx="1987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52307" y="925282"/>
            <a:ext cx="17703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6415" algn="l"/>
                <a:tab pos="1684020" algn="l"/>
              </a:tabLst>
            </a:pPr>
            <a:r>
              <a:rPr dirty="0" sz="800" spc="35" i="1">
                <a:latin typeface="Arial"/>
                <a:cs typeface="Arial"/>
              </a:rPr>
              <a:t>T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25" i="1">
                <a:latin typeface="Arial"/>
                <a:cs typeface="Arial"/>
              </a:rPr>
              <a:t>T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35" i="1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19107" y="1016811"/>
            <a:ext cx="3797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15595" algn="l"/>
              </a:tabLst>
            </a:pPr>
            <a:r>
              <a:rPr dirty="0" baseline="6944" sz="1200" spc="-75" i="1">
                <a:latin typeface="Arial"/>
                <a:cs typeface="Arial"/>
              </a:rPr>
              <a:t>i</a:t>
            </a:r>
            <a:r>
              <a:rPr dirty="0" baseline="6944" sz="12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9739" y="945158"/>
            <a:ext cx="2788920" cy="2870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694055" marR="30480" indent="-656590">
              <a:lnSpc>
                <a:spcPct val="56699"/>
              </a:lnSpc>
              <a:spcBef>
                <a:spcPts val="660"/>
              </a:spcBef>
              <a:tabLst>
                <a:tab pos="778510" algn="l"/>
                <a:tab pos="2016760" algn="l"/>
              </a:tabLst>
            </a:pP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baseline="31250" sz="1200" spc="-15">
                <a:latin typeface="Lucida Sans Unicode"/>
                <a:cs typeface="Lucida Sans Unicode"/>
              </a:rPr>
              <a:t>′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0" i="1">
                <a:latin typeface="Verdana"/>
                <a:cs typeface="Verdana"/>
              </a:rPr>
              <a:t>,</a:t>
            </a:r>
            <a:r>
              <a:rPr dirty="0" sz="1100" spc="-195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	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409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Qx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4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50" i="1">
                <a:latin typeface="Arial"/>
                <a:cs typeface="Arial"/>
              </a:rPr>
              <a:t>r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ln(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150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345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 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0444" y="1386013"/>
            <a:ext cx="1675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gradient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50">
                <a:latin typeface="Lucida Sans Unicode"/>
                <a:cs typeface="Lucida Sans Unicode"/>
              </a:rPr>
              <a:t>∇</a:t>
            </a:r>
            <a:r>
              <a:rPr dirty="0" baseline="-10416" sz="1200" spc="-75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baseline="27777" sz="1200" spc="-15">
                <a:latin typeface="Lucida Sans Unicode"/>
                <a:cs typeface="Lucida Sans Unicode"/>
              </a:rPr>
              <a:t>′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53019" y="1719261"/>
            <a:ext cx="546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Lucida Sans Unicode"/>
                <a:cs typeface="Lucida Sans Unicode"/>
              </a:rPr>
              <a:t>′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59319" y="1709709"/>
            <a:ext cx="25463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00" spc="-2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∂</a:t>
            </a:r>
            <a:r>
              <a:rPr dirty="0" u="sng" sz="11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</a:t>
            </a:r>
            <a:r>
              <a:rPr dirty="0" u="sng" sz="1100" spc="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  <a:p>
            <a:pPr marL="48260">
              <a:lnSpc>
                <a:spcPct val="100000"/>
              </a:lnSpc>
              <a:spcBef>
                <a:spcPts val="170"/>
              </a:spcBef>
            </a:pPr>
            <a:r>
              <a:rPr dirty="0" sz="1100" spc="-25" i="1">
                <a:latin typeface="Verdana"/>
                <a:cs typeface="Verdana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42186" y="1825941"/>
            <a:ext cx="809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Qx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37409" y="1690089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464231" y="1694318"/>
            <a:ext cx="226060" cy="484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  <a:p>
            <a:pPr marL="26034">
              <a:lnSpc>
                <a:spcPct val="100000"/>
              </a:lnSpc>
              <a:spcBef>
                <a:spcPts val="134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02623" y="1732215"/>
            <a:ext cx="2984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11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975254" y="1791181"/>
            <a:ext cx="2736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0350" algn="l"/>
              </a:tabLst>
            </a:pPr>
            <a:r>
              <a:rPr dirty="0" u="sng" sz="8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8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052102" y="2009849"/>
            <a:ext cx="514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677223" y="1928709"/>
            <a:ext cx="5842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187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27777" sz="1200" i="1">
                <a:latin typeface="Arial"/>
                <a:cs typeface="Arial"/>
              </a:rPr>
              <a:t>T</a:t>
            </a:r>
            <a:r>
              <a:rPr dirty="0" baseline="27777" sz="1200" spc="-104" i="1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2" name="object 2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26" name="object 26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28" name="object 28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Step</a:t>
            </a:r>
            <a:r>
              <a:rPr dirty="0" spc="-85"/>
              <a:t> </a:t>
            </a:r>
            <a:r>
              <a:rPr dirty="0"/>
              <a:t>1:</a:t>
            </a:r>
            <a:r>
              <a:rPr dirty="0" spc="35"/>
              <a:t> </a:t>
            </a:r>
            <a:r>
              <a:rPr dirty="0" spc="-20"/>
              <a:t>Constructing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20"/>
              <a:t>Barrier</a:t>
            </a:r>
            <a:r>
              <a:rPr dirty="0" spc="-85"/>
              <a:t> </a:t>
            </a:r>
            <a:r>
              <a:rPr dirty="0" spc="-10"/>
              <a:t>Function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512926"/>
            <a:ext cx="3055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problem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transformed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barrier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function: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91271" y="851432"/>
            <a:ext cx="952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10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64332" y="80930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91155" y="813535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04680" y="1151139"/>
            <a:ext cx="1987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752307" y="925282"/>
            <a:ext cx="17703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6415" algn="l"/>
                <a:tab pos="1684020" algn="l"/>
              </a:tabLst>
            </a:pPr>
            <a:r>
              <a:rPr dirty="0" sz="800" spc="35" i="1">
                <a:latin typeface="Arial"/>
                <a:cs typeface="Arial"/>
              </a:rPr>
              <a:t>T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25" i="1">
                <a:latin typeface="Arial"/>
                <a:cs typeface="Arial"/>
              </a:rPr>
              <a:t>T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35" i="1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119107" y="1016811"/>
            <a:ext cx="3797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15595" algn="l"/>
              </a:tabLst>
            </a:pPr>
            <a:r>
              <a:rPr dirty="0" baseline="6944" sz="1200" spc="-75" i="1">
                <a:latin typeface="Arial"/>
                <a:cs typeface="Arial"/>
              </a:rPr>
              <a:t>i</a:t>
            </a:r>
            <a:r>
              <a:rPr dirty="0" baseline="6944" sz="12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9739" y="945158"/>
            <a:ext cx="2788920" cy="28702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694055" marR="30480" indent="-656590">
              <a:lnSpc>
                <a:spcPct val="56699"/>
              </a:lnSpc>
              <a:spcBef>
                <a:spcPts val="660"/>
              </a:spcBef>
              <a:tabLst>
                <a:tab pos="778510" algn="l"/>
                <a:tab pos="2016760" algn="l"/>
              </a:tabLst>
            </a:pP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baseline="31250" sz="1200" spc="-15">
                <a:latin typeface="Lucida Sans Unicode"/>
                <a:cs typeface="Lucida Sans Unicode"/>
              </a:rPr>
              <a:t>′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0" i="1">
                <a:latin typeface="Verdana"/>
                <a:cs typeface="Verdana"/>
              </a:rPr>
              <a:t>,</a:t>
            </a:r>
            <a:r>
              <a:rPr dirty="0" sz="1100" spc="-195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	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409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Qx</a:t>
            </a:r>
            <a:r>
              <a:rPr dirty="0" sz="1100" spc="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44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spc="10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spc="-50" i="1">
                <a:latin typeface="Arial"/>
                <a:cs typeface="Arial"/>
              </a:rPr>
              <a:t>r</a:t>
            </a:r>
            <a:r>
              <a:rPr dirty="0" sz="1100" i="1">
                <a:latin typeface="Arial"/>
                <a:cs typeface="Arial"/>
              </a:rPr>
              <a:t>	</a:t>
            </a:r>
            <a:r>
              <a:rPr dirty="0" sz="1100">
                <a:latin typeface="Tahoma"/>
                <a:cs typeface="Tahoma"/>
              </a:rPr>
              <a:t>ln(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sz="1100" spc="150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345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 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0444" y="1386013"/>
            <a:ext cx="16751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gradient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50">
                <a:latin typeface="Lucida Sans Unicode"/>
                <a:cs typeface="Lucida Sans Unicode"/>
              </a:rPr>
              <a:t>∇</a:t>
            </a:r>
            <a:r>
              <a:rPr dirty="0" baseline="-10416" sz="1200" spc="-75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baseline="27777" sz="1200" spc="-15">
                <a:latin typeface="Lucida Sans Unicode"/>
                <a:cs typeface="Lucida Sans Unicode"/>
              </a:rPr>
              <a:t>′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53019" y="1719261"/>
            <a:ext cx="5461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Lucida Sans Unicode"/>
                <a:cs typeface="Lucida Sans Unicode"/>
              </a:rPr>
              <a:t>′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59319" y="1709709"/>
            <a:ext cx="254635" cy="40322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u="sng" sz="1100" spc="-2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∂</a:t>
            </a:r>
            <a:r>
              <a:rPr dirty="0" u="sng" sz="1100" spc="-2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</a:t>
            </a:r>
            <a:r>
              <a:rPr dirty="0" u="sng" sz="1100" spc="5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  <a:p>
            <a:pPr marL="48260">
              <a:lnSpc>
                <a:spcPct val="100000"/>
              </a:lnSpc>
              <a:spcBef>
                <a:spcPts val="170"/>
              </a:spcBef>
            </a:pPr>
            <a:r>
              <a:rPr dirty="0" sz="1100" spc="-25" i="1">
                <a:latin typeface="Verdana"/>
                <a:cs typeface="Verdana"/>
              </a:rPr>
              <a:t>∂</a:t>
            </a:r>
            <a:r>
              <a:rPr dirty="0" sz="1100" spc="-25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42186" y="1825941"/>
            <a:ext cx="8096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Qx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537409" y="1690089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464231" y="1694318"/>
            <a:ext cx="226060" cy="484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  <a:p>
            <a:pPr marL="26034">
              <a:lnSpc>
                <a:spcPct val="100000"/>
              </a:lnSpc>
              <a:spcBef>
                <a:spcPts val="134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702623" y="1732215"/>
            <a:ext cx="2984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18440" algn="l"/>
              </a:tabLst>
            </a:pPr>
            <a:r>
              <a:rPr dirty="0" u="sng" sz="11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sng" sz="11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975254" y="1791181"/>
            <a:ext cx="27368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0350" algn="l"/>
              </a:tabLst>
            </a:pPr>
            <a:r>
              <a:rPr dirty="0" u="sng" sz="800" spc="-5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sng" sz="8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052102" y="2009849"/>
            <a:ext cx="514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677223" y="1928709"/>
            <a:ext cx="5842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187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27777" sz="1200" i="1">
                <a:latin typeface="Arial"/>
                <a:cs typeface="Arial"/>
              </a:rPr>
              <a:t>T</a:t>
            </a:r>
            <a:r>
              <a:rPr dirty="0" baseline="27777" sz="1200" spc="-104" i="1">
                <a:latin typeface="Arial"/>
                <a:cs typeface="Arial"/>
              </a:rPr>
              <a:t> </a:t>
            </a:r>
            <a:r>
              <a:rPr dirty="0" sz="1100" spc="-50" i="1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5844" y="2256496"/>
            <a:ext cx="17183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Hessian</a:t>
            </a:r>
            <a:r>
              <a:rPr dirty="0" sz="1100" spc="-20">
                <a:latin typeface="Tahoma"/>
                <a:cs typeface="Tahoma"/>
              </a:rPr>
              <a:t> matrix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60" b="1">
                <a:latin typeface="Arial"/>
                <a:cs typeface="Arial"/>
              </a:rPr>
              <a:t>H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489252" y="2661791"/>
            <a:ext cx="6496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60" b="1">
                <a:latin typeface="Arial"/>
                <a:cs typeface="Arial"/>
              </a:rPr>
              <a:t>H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r</a:t>
            </a:r>
            <a:endParaRPr sz="11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224443" y="2525927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151265" y="2530169"/>
            <a:ext cx="226060" cy="484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  <a:p>
            <a:pPr marL="26034">
              <a:lnSpc>
                <a:spcPct val="100000"/>
              </a:lnSpc>
              <a:spcBef>
                <a:spcPts val="134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Tahoma"/>
                <a:cs typeface="Tahoma"/>
              </a:rPr>
              <a:t>=1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775546" y="2553549"/>
            <a:ext cx="990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35" i="1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573654" y="2566503"/>
            <a:ext cx="2774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10416" sz="1200" spc="-30" i="1">
                <a:latin typeface="Arial"/>
                <a:cs typeface="Arial"/>
              </a:rPr>
              <a:t>i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baseline="-20833" sz="1200" spc="-30" i="1">
                <a:latin typeface="Arial"/>
                <a:cs typeface="Arial"/>
              </a:rPr>
              <a:t>i</a:t>
            </a:r>
            <a:endParaRPr baseline="-20833" sz="1200">
              <a:latin typeface="Arial"/>
              <a:cs typeface="Arial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2402357" y="2778391"/>
            <a:ext cx="688975" cy="0"/>
          </a:xfrm>
          <a:custGeom>
            <a:avLst/>
            <a:gdLst/>
            <a:ahLst/>
            <a:cxnLst/>
            <a:rect l="l" t="t" r="r" b="b"/>
            <a:pathLst>
              <a:path w="688975" h="0">
                <a:moveTo>
                  <a:pt x="0" y="0"/>
                </a:moveTo>
                <a:lnTo>
                  <a:pt x="68850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2793009" y="2845687"/>
            <a:ext cx="514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364257" y="2764560"/>
            <a:ext cx="75882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b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187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10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baseline="27777" sz="1200" i="1">
                <a:latin typeface="Arial"/>
                <a:cs typeface="Arial"/>
              </a:rPr>
              <a:t>T</a:t>
            </a:r>
            <a:r>
              <a:rPr dirty="0" baseline="27777" sz="1200" spc="-104" i="1">
                <a:latin typeface="Arial"/>
                <a:cs typeface="Arial"/>
              </a:rPr>
              <a:t> </a:t>
            </a:r>
            <a:r>
              <a:rPr dirty="0" sz="1100" spc="-55" i="1">
                <a:latin typeface="Arial"/>
                <a:cs typeface="Arial"/>
              </a:rPr>
              <a:t>x</a:t>
            </a:r>
            <a:r>
              <a:rPr dirty="0" sz="1100" spc="-210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baseline="20833" sz="1200" spc="-37">
                <a:latin typeface="Tahoma"/>
                <a:cs typeface="Tahoma"/>
              </a:rPr>
              <a:t>2</a:t>
            </a:r>
            <a:endParaRPr baseline="20833" sz="1200">
              <a:latin typeface="Tahoma"/>
              <a:cs typeface="Tahoma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1" name="object 31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35" name="object 35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37" name="object 37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77431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The</a:t>
            </a:r>
            <a:r>
              <a:rPr dirty="0" spc="-25"/>
              <a:t> </a:t>
            </a:r>
            <a:r>
              <a:rPr dirty="0" spc="75"/>
              <a:t>MATLAB</a:t>
            </a:r>
            <a:r>
              <a:rPr dirty="0" spc="-20"/>
              <a:t> </a:t>
            </a:r>
            <a:r>
              <a:rPr dirty="0" spc="-10"/>
              <a:t>Code</a:t>
            </a:r>
            <a:r>
              <a:rPr dirty="0" spc="-25"/>
              <a:t> </a:t>
            </a:r>
            <a:r>
              <a:rPr dirty="0" spc="-10"/>
              <a:t>for</a:t>
            </a:r>
            <a:r>
              <a:rPr dirty="0" spc="-20"/>
              <a:t> </a:t>
            </a:r>
            <a:r>
              <a:rPr dirty="0"/>
              <a:t>This</a:t>
            </a:r>
            <a:r>
              <a:rPr dirty="0" spc="-25"/>
              <a:t> </a:t>
            </a:r>
            <a:r>
              <a:rPr dirty="0" spc="-10"/>
              <a:t>Section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0444" y="1029917"/>
            <a:ext cx="23507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Define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functions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Lucida Sans Unicode"/>
                <a:cs typeface="Lucida Sans Unicode"/>
              </a:rPr>
              <a:t>∇</a:t>
            </a:r>
            <a:r>
              <a:rPr dirty="0" baseline="-10416" sz="1200" spc="-75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spc="-10" i="1">
                <a:latin typeface="Arial"/>
                <a:cs typeface="Arial"/>
              </a:rPr>
              <a:t>Q</a:t>
            </a:r>
            <a:r>
              <a:rPr dirty="0" baseline="27777" sz="1200" spc="-15">
                <a:latin typeface="Lucida Sans Unicode"/>
                <a:cs typeface="Lucida Sans Unicode"/>
              </a:rPr>
              <a:t>′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x</a:t>
            </a:r>
            <a:r>
              <a:rPr dirty="0" sz="1100" spc="-1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 b="1">
                <a:latin typeface="Arial"/>
                <a:cs typeface="Arial"/>
              </a:rPr>
              <a:t>H</a:t>
            </a:r>
            <a:r>
              <a:rPr dirty="0" sz="1100" spc="-25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8544" y="1253756"/>
            <a:ext cx="4331335" cy="1068070"/>
            <a:chOff x="138544" y="1253756"/>
            <a:chExt cx="4331335" cy="1068070"/>
          </a:xfrm>
        </p:grpSpPr>
        <p:sp>
          <p:nvSpPr>
            <p:cNvPr id="5" name="object 5" descr=""/>
            <p:cNvSpPr/>
            <p:nvPr/>
          </p:nvSpPr>
          <p:spPr>
            <a:xfrm>
              <a:off x="138544" y="1256284"/>
              <a:ext cx="4331335" cy="0"/>
            </a:xfrm>
            <a:custGeom>
              <a:avLst/>
              <a:gdLst/>
              <a:ahLst/>
              <a:cxnLst/>
              <a:rect l="l" t="t" r="r" b="b"/>
              <a:pathLst>
                <a:path w="4331335" h="0">
                  <a:moveTo>
                    <a:pt x="0" y="0"/>
                  </a:moveTo>
                  <a:lnTo>
                    <a:pt x="433090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1071" y="1258824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w="0" h="108584">
                  <a:moveTo>
                    <a:pt x="0" y="10800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466920" y="1258824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w="0" h="108584">
                  <a:moveTo>
                    <a:pt x="0" y="10800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1071" y="136681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66920" y="136681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1071" y="1483855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466920" y="1483855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41071" y="1604048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466920" y="1604048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41071" y="172425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66920" y="172425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1071" y="1844446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466920" y="1844446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41071" y="196465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466920" y="196465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1071" y="2084844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466920" y="2084844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1071" y="2208212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w="0" h="108585">
                  <a:moveTo>
                    <a:pt x="0" y="10800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466920" y="2208212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w="0" h="108585">
                  <a:moveTo>
                    <a:pt x="0" y="10800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38544" y="2318740"/>
              <a:ext cx="4331335" cy="0"/>
            </a:xfrm>
            <a:custGeom>
              <a:avLst/>
              <a:gdLst/>
              <a:ahLst/>
              <a:cxnLst/>
              <a:rect l="l" t="t" r="r" b="b"/>
              <a:pathLst>
                <a:path w="4331335" h="0">
                  <a:moveTo>
                    <a:pt x="0" y="0"/>
                  </a:moveTo>
                  <a:lnTo>
                    <a:pt x="433090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51612" y="1366812"/>
            <a:ext cx="4105275" cy="84201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05"/>
              </a:lnSpc>
            </a:pPr>
            <a:r>
              <a:rPr dirty="0" sz="800">
                <a:latin typeface="Calibri"/>
                <a:cs typeface="Calibri"/>
              </a:rPr>
              <a:t>Grad_Q_prime</a:t>
            </a:r>
            <a:r>
              <a:rPr dirty="0" sz="800" spc="28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29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@(x)</a:t>
            </a:r>
            <a:r>
              <a:rPr dirty="0" sz="800" spc="28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(Q</a:t>
            </a:r>
            <a:r>
              <a:rPr dirty="0" sz="800" spc="290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9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70">
                <a:latin typeface="Calibri"/>
                <a:cs typeface="Calibri"/>
              </a:rPr>
              <a:t>x</a:t>
            </a:r>
            <a:r>
              <a:rPr dirty="0" sz="800" spc="285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dirty="0" sz="800" spc="29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35">
                <a:latin typeface="Calibri"/>
                <a:cs typeface="Calibri"/>
              </a:rPr>
              <a:t>c)</a:t>
            </a:r>
            <a:r>
              <a:rPr dirty="0" sz="800" spc="290">
                <a:latin typeface="Calibri"/>
                <a:cs typeface="Calibri"/>
              </a:rPr>
              <a:t> </a:t>
            </a:r>
            <a:r>
              <a:rPr dirty="0" sz="800" spc="17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dirty="0" sz="800" spc="28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95">
                <a:solidFill>
                  <a:srgbClr val="007F00"/>
                </a:solidFill>
                <a:latin typeface="Calibri"/>
                <a:cs typeface="Calibri"/>
              </a:rPr>
              <a:t>...</a:t>
            </a:r>
            <a:endParaRPr sz="800">
              <a:latin typeface="Calibri"/>
              <a:cs typeface="Calibri"/>
            </a:endParaRPr>
          </a:p>
          <a:p>
            <a:pPr marL="214629">
              <a:lnSpc>
                <a:spcPts val="935"/>
              </a:lnSpc>
            </a:pPr>
            <a:r>
              <a:rPr dirty="0" sz="800" spc="100">
                <a:latin typeface="Calibri"/>
                <a:cs typeface="Calibri"/>
              </a:rPr>
              <a:t>r_val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85">
                <a:latin typeface="Calibri"/>
                <a:cs typeface="Calibri"/>
              </a:rPr>
              <a:t>(</a:t>
            </a:r>
            <a:r>
              <a:rPr dirty="0" sz="800" spc="250">
                <a:latin typeface="Calibri"/>
                <a:cs typeface="Calibri"/>
              </a:rPr>
              <a:t> </a:t>
            </a:r>
            <a:r>
              <a:rPr dirty="0" sz="800" spc="175">
                <a:latin typeface="Calibri"/>
                <a:cs typeface="Calibri"/>
              </a:rPr>
              <a:t>(</a:t>
            </a:r>
            <a:r>
              <a:rPr dirty="0" sz="800" spc="175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dirty="0" sz="800">
                <a:latin typeface="Calibri"/>
                <a:cs typeface="Calibri"/>
              </a:rPr>
              <a:t>a1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 spc="105">
                <a:solidFill>
                  <a:srgbClr val="666666"/>
                </a:solidFill>
                <a:latin typeface="Calibri"/>
                <a:cs typeface="Calibri"/>
              </a:rPr>
              <a:t>/</a:t>
            </a:r>
            <a:r>
              <a:rPr dirty="0" sz="800" spc="25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65">
                <a:latin typeface="Calibri"/>
                <a:cs typeface="Calibri"/>
              </a:rPr>
              <a:t>(b1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 spc="17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dirty="0" sz="800" spc="25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00">
                <a:latin typeface="Calibri"/>
                <a:cs typeface="Calibri"/>
              </a:rPr>
              <a:t>a1</a:t>
            </a:r>
            <a:r>
              <a:rPr dirty="0" sz="800" spc="100">
                <a:solidFill>
                  <a:srgbClr val="666666"/>
                </a:solidFill>
                <a:latin typeface="Calibri"/>
                <a:cs typeface="Calibri"/>
              </a:rPr>
              <a:t>'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45">
                <a:latin typeface="Calibri"/>
                <a:cs typeface="Calibri"/>
              </a:rPr>
              <a:t>x))</a:t>
            </a:r>
            <a:r>
              <a:rPr dirty="0" sz="800" spc="250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95">
                <a:solidFill>
                  <a:srgbClr val="007F00"/>
                </a:solidFill>
                <a:latin typeface="Calibri"/>
                <a:cs typeface="Calibri"/>
              </a:rPr>
              <a:t>...</a:t>
            </a:r>
            <a:endParaRPr sz="800">
              <a:latin typeface="Calibri"/>
              <a:cs typeface="Calibri"/>
            </a:endParaRPr>
          </a:p>
          <a:p>
            <a:pPr marL="752475">
              <a:lnSpc>
                <a:spcPts val="955"/>
              </a:lnSpc>
            </a:pPr>
            <a:r>
              <a:rPr dirty="0" sz="800" spc="175">
                <a:latin typeface="Calibri"/>
                <a:cs typeface="Calibri"/>
              </a:rPr>
              <a:t>(</a:t>
            </a:r>
            <a:r>
              <a:rPr dirty="0" sz="800" spc="175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dirty="0" sz="800">
                <a:latin typeface="Calibri"/>
                <a:cs typeface="Calibri"/>
              </a:rPr>
              <a:t>a2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 spc="105">
                <a:solidFill>
                  <a:srgbClr val="666666"/>
                </a:solidFill>
                <a:latin typeface="Calibri"/>
                <a:cs typeface="Calibri"/>
              </a:rPr>
              <a:t>/</a:t>
            </a:r>
            <a:r>
              <a:rPr dirty="0" sz="800" spc="25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65">
                <a:latin typeface="Calibri"/>
                <a:cs typeface="Calibri"/>
              </a:rPr>
              <a:t>(b2</a:t>
            </a:r>
            <a:r>
              <a:rPr dirty="0" sz="800" spc="250">
                <a:latin typeface="Calibri"/>
                <a:cs typeface="Calibri"/>
              </a:rPr>
              <a:t> </a:t>
            </a:r>
            <a:r>
              <a:rPr dirty="0" sz="800" spc="17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dirty="0" sz="800" spc="25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00">
                <a:latin typeface="Calibri"/>
                <a:cs typeface="Calibri"/>
              </a:rPr>
              <a:t>a2</a:t>
            </a:r>
            <a:r>
              <a:rPr dirty="0" sz="800" spc="100">
                <a:solidFill>
                  <a:srgbClr val="666666"/>
                </a:solidFill>
                <a:latin typeface="Calibri"/>
                <a:cs typeface="Calibri"/>
              </a:rPr>
              <a:t>'</a:t>
            </a:r>
            <a:r>
              <a:rPr dirty="0" sz="800" spc="25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5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45">
                <a:latin typeface="Calibri"/>
                <a:cs typeface="Calibri"/>
              </a:rPr>
              <a:t>x))</a:t>
            </a:r>
            <a:r>
              <a:rPr dirty="0" sz="800" spc="250">
                <a:latin typeface="Calibri"/>
                <a:cs typeface="Calibri"/>
              </a:rPr>
              <a:t> </a:t>
            </a:r>
            <a:r>
              <a:rPr dirty="0" sz="800" spc="170">
                <a:latin typeface="Calibri"/>
                <a:cs typeface="Calibri"/>
              </a:rPr>
              <a:t>);</a:t>
            </a:r>
            <a:endParaRPr sz="800">
              <a:latin typeface="Calibri"/>
              <a:cs typeface="Calibri"/>
            </a:endParaRPr>
          </a:p>
          <a:p>
            <a:pPr marL="214629" marR="1945639" indent="-215265">
              <a:lnSpc>
                <a:spcPts val="950"/>
              </a:lnSpc>
              <a:spcBef>
                <a:spcPts val="969"/>
              </a:spcBef>
            </a:pPr>
            <a:r>
              <a:rPr dirty="0" sz="800" spc="10">
                <a:latin typeface="Calibri"/>
                <a:cs typeface="Calibri"/>
              </a:rPr>
              <a:t>Hessian_Q_prime</a:t>
            </a:r>
            <a:r>
              <a:rPr dirty="0" sz="800" spc="280">
                <a:latin typeface="Calibri"/>
                <a:cs typeface="Calibri"/>
              </a:rPr>
              <a:t> </a:t>
            </a:r>
            <a:r>
              <a:rPr dirty="0" sz="800" spc="10">
                <a:latin typeface="Calibri"/>
                <a:cs typeface="Calibri"/>
              </a:rPr>
              <a:t>=</a:t>
            </a:r>
            <a:r>
              <a:rPr dirty="0" sz="800" spc="285">
                <a:latin typeface="Calibri"/>
                <a:cs typeface="Calibri"/>
              </a:rPr>
              <a:t> </a:t>
            </a:r>
            <a:r>
              <a:rPr dirty="0" sz="800" spc="10">
                <a:latin typeface="Calibri"/>
                <a:cs typeface="Calibri"/>
              </a:rPr>
              <a:t>@(x)</a:t>
            </a:r>
            <a:r>
              <a:rPr dirty="0" sz="800" spc="280">
                <a:latin typeface="Calibri"/>
                <a:cs typeface="Calibri"/>
              </a:rPr>
              <a:t> </a:t>
            </a:r>
            <a:r>
              <a:rPr dirty="0" sz="800" spc="10">
                <a:latin typeface="Calibri"/>
                <a:cs typeface="Calibri"/>
              </a:rPr>
              <a:t>Q</a:t>
            </a:r>
            <a:r>
              <a:rPr dirty="0" sz="800" spc="285"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dirty="0" sz="800" spc="28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00">
                <a:latin typeface="Calibri"/>
                <a:cs typeface="Calibri"/>
              </a:rPr>
              <a:t>r_val</a:t>
            </a:r>
            <a:r>
              <a:rPr dirty="0" sz="800" spc="285">
                <a:latin typeface="Calibri"/>
                <a:cs typeface="Calibri"/>
              </a:rPr>
              <a:t> </a:t>
            </a:r>
            <a:r>
              <a:rPr dirty="0" sz="800" spc="1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8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85">
                <a:latin typeface="Calibri"/>
                <a:cs typeface="Calibri"/>
              </a:rPr>
              <a:t>(</a:t>
            </a:r>
            <a:r>
              <a:rPr dirty="0" sz="800" spc="280">
                <a:latin typeface="Calibri"/>
                <a:cs typeface="Calibri"/>
              </a:rPr>
              <a:t> </a:t>
            </a:r>
            <a:r>
              <a:rPr dirty="0" sz="800" spc="195">
                <a:solidFill>
                  <a:srgbClr val="007F00"/>
                </a:solidFill>
                <a:latin typeface="Calibri"/>
                <a:cs typeface="Calibri"/>
              </a:rPr>
              <a:t>... </a:t>
            </a:r>
            <a:r>
              <a:rPr dirty="0" sz="800" spc="75">
                <a:latin typeface="Calibri"/>
                <a:cs typeface="Calibri"/>
              </a:rPr>
              <a:t>(a1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20">
                <a:latin typeface="Calibri"/>
                <a:cs typeface="Calibri"/>
              </a:rPr>
              <a:t>a1</a:t>
            </a:r>
            <a:r>
              <a:rPr dirty="0" sz="800" spc="120">
                <a:solidFill>
                  <a:srgbClr val="666666"/>
                </a:solidFill>
                <a:latin typeface="Calibri"/>
                <a:cs typeface="Calibri"/>
              </a:rPr>
              <a:t>'</a:t>
            </a:r>
            <a:r>
              <a:rPr dirty="0" sz="800" spc="120">
                <a:latin typeface="Calibri"/>
                <a:cs typeface="Calibri"/>
              </a:rPr>
              <a:t>)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 spc="105">
                <a:solidFill>
                  <a:srgbClr val="666666"/>
                </a:solidFill>
                <a:latin typeface="Calibri"/>
                <a:cs typeface="Calibri"/>
              </a:rPr>
              <a:t>/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65">
                <a:latin typeface="Calibri"/>
                <a:cs typeface="Calibri"/>
              </a:rPr>
              <a:t>(b1</a:t>
            </a:r>
            <a:r>
              <a:rPr dirty="0" sz="800" spc="250">
                <a:latin typeface="Calibri"/>
                <a:cs typeface="Calibri"/>
              </a:rPr>
              <a:t> </a:t>
            </a:r>
            <a:r>
              <a:rPr dirty="0" sz="800" spc="17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00">
                <a:latin typeface="Calibri"/>
                <a:cs typeface="Calibri"/>
              </a:rPr>
              <a:t>a1</a:t>
            </a:r>
            <a:r>
              <a:rPr dirty="0" sz="800" spc="100">
                <a:solidFill>
                  <a:srgbClr val="666666"/>
                </a:solidFill>
                <a:latin typeface="Calibri"/>
                <a:cs typeface="Calibri"/>
              </a:rPr>
              <a:t>'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70">
                <a:latin typeface="Calibri"/>
                <a:cs typeface="Calibri"/>
              </a:rPr>
              <a:t>x)</a:t>
            </a:r>
            <a:r>
              <a:rPr dirty="0" sz="800" spc="70">
                <a:solidFill>
                  <a:srgbClr val="666666"/>
                </a:solidFill>
                <a:latin typeface="Calibri"/>
                <a:cs typeface="Calibri"/>
              </a:rPr>
              <a:t>^2</a:t>
            </a:r>
            <a:r>
              <a:rPr dirty="0" sz="800" spc="25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+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95">
                <a:solidFill>
                  <a:srgbClr val="007F00"/>
                </a:solidFill>
                <a:latin typeface="Calibri"/>
                <a:cs typeface="Calibri"/>
              </a:rPr>
              <a:t>...</a:t>
            </a:r>
            <a:endParaRPr sz="800">
              <a:latin typeface="Calibri"/>
              <a:cs typeface="Calibri"/>
            </a:endParaRPr>
          </a:p>
          <a:p>
            <a:pPr marL="214629">
              <a:lnSpc>
                <a:spcPts val="915"/>
              </a:lnSpc>
            </a:pPr>
            <a:r>
              <a:rPr dirty="0" sz="800" spc="75">
                <a:latin typeface="Calibri"/>
                <a:cs typeface="Calibri"/>
              </a:rPr>
              <a:t>(a2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20">
                <a:latin typeface="Calibri"/>
                <a:cs typeface="Calibri"/>
              </a:rPr>
              <a:t>a2</a:t>
            </a:r>
            <a:r>
              <a:rPr dirty="0" sz="800" spc="120">
                <a:solidFill>
                  <a:srgbClr val="666666"/>
                </a:solidFill>
                <a:latin typeface="Calibri"/>
                <a:cs typeface="Calibri"/>
              </a:rPr>
              <a:t>'</a:t>
            </a:r>
            <a:r>
              <a:rPr dirty="0" sz="800" spc="120">
                <a:latin typeface="Calibri"/>
                <a:cs typeface="Calibri"/>
              </a:rPr>
              <a:t>)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 spc="105">
                <a:solidFill>
                  <a:srgbClr val="666666"/>
                </a:solidFill>
                <a:latin typeface="Calibri"/>
                <a:cs typeface="Calibri"/>
              </a:rPr>
              <a:t>/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65">
                <a:latin typeface="Calibri"/>
                <a:cs typeface="Calibri"/>
              </a:rPr>
              <a:t>(b2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 spc="170">
                <a:solidFill>
                  <a:srgbClr val="666666"/>
                </a:solidFill>
                <a:latin typeface="Calibri"/>
                <a:cs typeface="Calibri"/>
              </a:rPr>
              <a:t>-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00">
                <a:latin typeface="Calibri"/>
                <a:cs typeface="Calibri"/>
              </a:rPr>
              <a:t>a2</a:t>
            </a:r>
            <a:r>
              <a:rPr dirty="0" sz="800" spc="100">
                <a:solidFill>
                  <a:srgbClr val="666666"/>
                </a:solidFill>
                <a:latin typeface="Calibri"/>
                <a:cs typeface="Calibri"/>
              </a:rPr>
              <a:t>'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70">
                <a:latin typeface="Calibri"/>
                <a:cs typeface="Calibri"/>
              </a:rPr>
              <a:t>x)</a:t>
            </a:r>
            <a:r>
              <a:rPr dirty="0" sz="800" spc="70">
                <a:solidFill>
                  <a:srgbClr val="666666"/>
                </a:solidFill>
                <a:latin typeface="Calibri"/>
                <a:cs typeface="Calibri"/>
              </a:rPr>
              <a:t>^2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70">
                <a:latin typeface="Calibri"/>
                <a:cs typeface="Calibri"/>
              </a:rPr>
              <a:t>);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7" name="object 2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31" name="object 31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 spc="-10"/>
              <a:t>5</a:t>
            </a:r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Step</a:t>
            </a:r>
            <a:r>
              <a:rPr dirty="0" spc="-80"/>
              <a:t> </a:t>
            </a:r>
            <a:r>
              <a:rPr dirty="0"/>
              <a:t>2:</a:t>
            </a:r>
            <a:r>
              <a:rPr dirty="0" spc="40"/>
              <a:t> </a:t>
            </a:r>
            <a:r>
              <a:rPr dirty="0" spc="-25"/>
              <a:t>Solving</a:t>
            </a:r>
            <a:r>
              <a:rPr dirty="0" spc="-75"/>
              <a:t> </a:t>
            </a:r>
            <a:r>
              <a:rPr dirty="0"/>
              <a:t>with</a:t>
            </a:r>
            <a:r>
              <a:rPr dirty="0" spc="-80"/>
              <a:t> </a:t>
            </a:r>
            <a:r>
              <a:rPr dirty="0" spc="-20"/>
              <a:t>Newton’s</a:t>
            </a:r>
            <a:r>
              <a:rPr dirty="0" spc="-75"/>
              <a:t> </a:t>
            </a:r>
            <a:r>
              <a:rPr dirty="0" spc="-10"/>
              <a:t>Method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0444" y="734719"/>
            <a:ext cx="3519804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fixed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parameter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central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solving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spc="-50">
                <a:latin typeface="Lucida Sans Unicode"/>
                <a:cs typeface="Lucida Sans Unicode"/>
              </a:rPr>
              <a:t>∇</a:t>
            </a:r>
            <a:r>
              <a:rPr dirty="0" baseline="-10416" sz="1200" spc="-75" i="1">
                <a:latin typeface="Arial"/>
                <a:cs typeface="Arial"/>
              </a:rPr>
              <a:t>x</a:t>
            </a:r>
            <a:r>
              <a:rPr dirty="0" baseline="-10416" sz="1200" spc="-142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baseline="27777" sz="1200">
                <a:latin typeface="Lucida Sans Unicode"/>
                <a:cs typeface="Lucida Sans Unicode"/>
              </a:rPr>
              <a:t>′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-190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0.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170949"/>
            <a:ext cx="114214" cy="1142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1929" y="115801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7532" y="1116824"/>
            <a:ext cx="2756535" cy="5029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 b="1">
                <a:latin typeface="Arial"/>
                <a:cs typeface="Arial"/>
              </a:rPr>
              <a:t>Calculate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Newton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step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p</a:t>
            </a:r>
            <a:r>
              <a:rPr dirty="0" baseline="-13888" sz="1200" spc="-37" i="1">
                <a:latin typeface="Arial"/>
                <a:cs typeface="Arial"/>
              </a:rPr>
              <a:t>k</a:t>
            </a:r>
            <a:endParaRPr baseline="-13888" sz="1200">
              <a:latin typeface="Arial"/>
              <a:cs typeface="Arial"/>
            </a:endParaRPr>
          </a:p>
          <a:p>
            <a:pPr marL="1411605">
              <a:lnSpc>
                <a:spcPct val="100000"/>
              </a:lnSpc>
              <a:spcBef>
                <a:spcPts val="1130"/>
              </a:spcBef>
            </a:pPr>
            <a:r>
              <a:rPr dirty="0" sz="1100" b="1">
                <a:latin typeface="Arial"/>
                <a:cs typeface="Arial"/>
              </a:rPr>
              <a:t>H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-150" i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34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Lucida Sans Unicode"/>
                <a:cs typeface="Lucida Sans Unicode"/>
              </a:rPr>
              <a:t>−∇</a:t>
            </a:r>
            <a:r>
              <a:rPr dirty="0" baseline="-10416" sz="1200" spc="-75" i="1">
                <a:latin typeface="Arial"/>
                <a:cs typeface="Arial"/>
              </a:rPr>
              <a:t>x</a:t>
            </a:r>
            <a:r>
              <a:rPr dirty="0" baseline="-10416" sz="1200" spc="-13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baseline="31250" sz="1200">
                <a:latin typeface="Lucida Sans Unicode"/>
                <a:cs typeface="Lucida Sans Unicode"/>
              </a:rPr>
              <a:t>′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-190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793452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1917" y="178051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2932" y="1739327"/>
            <a:ext cx="653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Update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25" b="1">
                <a:latin typeface="Arial"/>
                <a:cs typeface="Arial"/>
              </a:rPr>
              <a:t>x: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49704" y="1911399"/>
            <a:ext cx="971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x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>
                <a:latin typeface="Tahoma"/>
                <a:cs typeface="Tahoma"/>
              </a:rPr>
              <a:t>+1</a:t>
            </a:r>
            <a:r>
              <a:rPr dirty="0" baseline="-13888" sz="1200" spc="179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b="1">
                <a:latin typeface="Arial"/>
                <a:cs typeface="Arial"/>
              </a:rPr>
              <a:t>x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baseline="-13888" sz="1200" spc="232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35" b="1">
                <a:latin typeface="Arial"/>
                <a:cs typeface="Arial"/>
              </a:rPr>
              <a:t>p</a:t>
            </a:r>
            <a:r>
              <a:rPr dirty="0" baseline="-13888" sz="1200" spc="-52" i="1">
                <a:latin typeface="Arial"/>
                <a:cs typeface="Arial"/>
              </a:rPr>
              <a:t>k</a:t>
            </a:r>
            <a:endParaRPr baseline="-13888" sz="12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2219842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1917" y="220690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02932" y="2165717"/>
            <a:ext cx="1290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0" b="1">
                <a:latin typeface="Arial"/>
                <a:cs typeface="Arial"/>
              </a:rPr>
              <a:t>Stopping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Condition: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88756" y="2523439"/>
            <a:ext cx="34925" cy="139700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9381" y="2523439"/>
            <a:ext cx="34925" cy="139700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904095" y="2476968"/>
            <a:ext cx="1146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Lucida Sans Unicode"/>
                <a:cs typeface="Lucida Sans Unicode"/>
              </a:rPr>
              <a:t>∇</a:t>
            </a:r>
            <a:r>
              <a:rPr dirty="0" baseline="-10416" sz="1200" spc="-75" i="1">
                <a:latin typeface="Arial"/>
                <a:cs typeface="Arial"/>
              </a:rPr>
              <a:t>x</a:t>
            </a:r>
            <a:r>
              <a:rPr dirty="0" baseline="-10416" sz="1200" spc="-15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baseline="31250" sz="1200">
                <a:latin typeface="Lucida Sans Unicode"/>
                <a:cs typeface="Lucida Sans Unicode"/>
              </a:rPr>
              <a:t>′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baseline="-13888" sz="1200" i="1">
                <a:latin typeface="Arial"/>
                <a:cs typeface="Arial"/>
              </a:rPr>
              <a:t>k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-200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215">
                <a:latin typeface="Tahoma"/>
                <a:cs typeface="Tahoma"/>
              </a:rPr>
              <a:t> </a:t>
            </a:r>
            <a:r>
              <a:rPr dirty="0" baseline="-10416" sz="1200">
                <a:latin typeface="Tahoma"/>
                <a:cs typeface="Tahoma"/>
              </a:rPr>
              <a:t>2</a:t>
            </a:r>
            <a:r>
              <a:rPr dirty="0" baseline="-10416" sz="1200" spc="157">
                <a:latin typeface="Tahoma"/>
                <a:cs typeface="Tahoma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80" i="1">
                <a:latin typeface="Verdana"/>
                <a:cs typeface="Verdana"/>
              </a:rPr>
              <a:t> </a:t>
            </a:r>
            <a:r>
              <a:rPr dirty="0" sz="1100" spc="-50" i="1">
                <a:latin typeface="Verdana"/>
                <a:cs typeface="Verdana"/>
              </a:rPr>
              <a:t>ε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8" name="object 1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24" name="object 2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 spc="-10"/>
              <a:t>6</a:t>
            </a:r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Step</a:t>
            </a:r>
            <a:r>
              <a:rPr dirty="0" spc="-70"/>
              <a:t> </a:t>
            </a:r>
            <a:r>
              <a:rPr dirty="0"/>
              <a:t>3:</a:t>
            </a:r>
            <a:r>
              <a:rPr dirty="0" spc="5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Path-</a:t>
            </a:r>
            <a:r>
              <a:rPr dirty="0" spc="-40"/>
              <a:t>Following</a:t>
            </a:r>
            <a:r>
              <a:rPr dirty="0" spc="-65"/>
              <a:t> </a:t>
            </a:r>
            <a:r>
              <a:rPr dirty="0" spc="-10"/>
              <a:t>Algorithm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36004" y="672172"/>
            <a:ext cx="4336415" cy="2399665"/>
            <a:chOff x="136004" y="672172"/>
            <a:chExt cx="4336415" cy="2399665"/>
          </a:xfrm>
        </p:grpSpPr>
        <p:sp>
          <p:nvSpPr>
            <p:cNvPr id="4" name="object 4" descr=""/>
            <p:cNvSpPr/>
            <p:nvPr/>
          </p:nvSpPr>
          <p:spPr>
            <a:xfrm>
              <a:off x="138544" y="674712"/>
              <a:ext cx="4331335" cy="0"/>
            </a:xfrm>
            <a:custGeom>
              <a:avLst/>
              <a:gdLst/>
              <a:ahLst/>
              <a:cxnLst/>
              <a:rect l="l" t="t" r="r" b="b"/>
              <a:pathLst>
                <a:path w="4331335" h="0">
                  <a:moveTo>
                    <a:pt x="0" y="0"/>
                  </a:moveTo>
                  <a:lnTo>
                    <a:pt x="433090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41071" y="677240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w="0" h="108584">
                  <a:moveTo>
                    <a:pt x="0" y="10800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466920" y="677240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w="0" h="108584">
                  <a:moveTo>
                    <a:pt x="0" y="10800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1071" y="785241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51612" y="785241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66920" y="785241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1071" y="902271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1612" y="902271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66920" y="902271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41071" y="1022477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51612" y="1022477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66920" y="1022477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1071" y="1142669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51612" y="1142669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466920" y="1142669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41071" y="1262875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1612" y="1262875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466920" y="1262875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1071" y="1383068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51612" y="1383068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466920" y="1383068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1071" y="150327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51612" y="1503273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466920" y="150327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1071" y="1623466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51612" y="1623466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466920" y="1623466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41071" y="174367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51612" y="1743672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466920" y="1743672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41071" y="1863864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51612" y="1863864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466920" y="1863864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1071" y="1984070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51612" y="1984070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466920" y="1984070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1071" y="210426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51612" y="2104263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466920" y="210426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1071" y="2224468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51612" y="2224468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466920" y="2224468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41071" y="2344661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51612" y="2344661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466920" y="2344661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41071" y="2464866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51612" y="2464866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466920" y="2464866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41071" y="2585059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51612" y="2585059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466920" y="2585059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41071" y="2705265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51612" y="2705265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466920" y="2705265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41071" y="2825458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51612" y="2825458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466920" y="2825458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41071" y="294566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51612" y="2945663"/>
              <a:ext cx="4105275" cy="123825"/>
            </a:xfrm>
            <a:custGeom>
              <a:avLst/>
              <a:gdLst/>
              <a:ahLst/>
              <a:cxnLst/>
              <a:rect l="l" t="t" r="r" b="b"/>
              <a:pathLst>
                <a:path w="4105275" h="123825">
                  <a:moveTo>
                    <a:pt x="4104792" y="0"/>
                  </a:moveTo>
                  <a:lnTo>
                    <a:pt x="0" y="0"/>
                  </a:lnTo>
                  <a:lnTo>
                    <a:pt x="0" y="123367"/>
                  </a:lnTo>
                  <a:lnTo>
                    <a:pt x="4104792" y="123367"/>
                  </a:lnTo>
                  <a:lnTo>
                    <a:pt x="410479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125844" y="456043"/>
            <a:ext cx="4237990" cy="2607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overall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algorithm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iteratively </a:t>
            </a:r>
            <a:r>
              <a:rPr dirty="0" sz="1100" spc="-60">
                <a:latin typeface="Tahoma"/>
                <a:cs typeface="Tahoma"/>
              </a:rPr>
              <a:t>reduces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120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solves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new</a:t>
            </a:r>
            <a:r>
              <a:rPr dirty="0" sz="1100" spc="-25">
                <a:latin typeface="Tahoma"/>
                <a:cs typeface="Tahoma"/>
              </a:rPr>
              <a:t> center.</a:t>
            </a:r>
            <a:endParaRPr sz="1100">
              <a:latin typeface="Tahoma"/>
              <a:cs typeface="Tahoma"/>
            </a:endParaRPr>
          </a:p>
          <a:p>
            <a:pPr marL="125730">
              <a:lnSpc>
                <a:spcPct val="100000"/>
              </a:lnSpc>
              <a:spcBef>
                <a:spcPts val="1045"/>
              </a:spcBef>
            </a:pPr>
            <a:r>
              <a:rPr dirty="0" sz="800" spc="100">
                <a:solidFill>
                  <a:srgbClr val="007F00"/>
                </a:solidFill>
                <a:latin typeface="Calibri"/>
                <a:cs typeface="Calibri"/>
              </a:rPr>
              <a:t>for</a:t>
            </a:r>
            <a:r>
              <a:rPr dirty="0" sz="800" spc="325">
                <a:solidFill>
                  <a:srgbClr val="007F00"/>
                </a:solidFill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path_k</a:t>
            </a:r>
            <a:r>
              <a:rPr dirty="0" sz="800" spc="33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340"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66666"/>
                </a:solidFill>
                <a:latin typeface="Calibri"/>
                <a:cs typeface="Calibri"/>
              </a:rPr>
              <a:t>1</a:t>
            </a:r>
            <a:r>
              <a:rPr dirty="0" sz="800" spc="-10">
                <a:latin typeface="Calibri"/>
                <a:cs typeface="Calibri"/>
              </a:rPr>
              <a:t>:MAX_PATH_ITER</a:t>
            </a:r>
            <a:endParaRPr sz="800">
              <a:latin typeface="Calibri"/>
              <a:cs typeface="Calibri"/>
            </a:endParaRPr>
          </a:p>
          <a:p>
            <a:pPr marL="340360">
              <a:lnSpc>
                <a:spcPts val="955"/>
              </a:lnSpc>
              <a:spcBef>
                <a:spcPts val="905"/>
              </a:spcBef>
            </a:pPr>
            <a:r>
              <a:rPr dirty="0" sz="800" spc="-25" i="1">
                <a:solidFill>
                  <a:srgbClr val="3D7A7A"/>
                </a:solidFill>
                <a:latin typeface="Calibri"/>
                <a:cs typeface="Calibri"/>
              </a:rPr>
              <a:t>%</a:t>
            </a:r>
            <a:r>
              <a:rPr dirty="0" sz="800" spc="229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60" i="1">
                <a:solidFill>
                  <a:srgbClr val="3D7A7A"/>
                </a:solidFill>
                <a:latin typeface="Calibri"/>
                <a:cs typeface="Calibri"/>
              </a:rPr>
              <a:t>Define</a:t>
            </a:r>
            <a:r>
              <a:rPr dirty="0" sz="800" spc="229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3D7A7A"/>
                </a:solidFill>
                <a:latin typeface="Calibri"/>
                <a:cs typeface="Calibri"/>
              </a:rPr>
              <a:t>Grad</a:t>
            </a:r>
            <a:r>
              <a:rPr dirty="0" sz="800" spc="229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3D7A7A"/>
                </a:solidFill>
                <a:latin typeface="Calibri"/>
                <a:cs typeface="Calibri"/>
              </a:rPr>
              <a:t>and</a:t>
            </a:r>
            <a:r>
              <a:rPr dirty="0" sz="800" spc="229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55" i="1">
                <a:solidFill>
                  <a:srgbClr val="3D7A7A"/>
                </a:solidFill>
                <a:latin typeface="Calibri"/>
                <a:cs typeface="Calibri"/>
              </a:rPr>
              <a:t>Hessian</a:t>
            </a:r>
            <a:r>
              <a:rPr dirty="0" sz="800" spc="235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55" i="1">
                <a:solidFill>
                  <a:srgbClr val="3D7A7A"/>
                </a:solidFill>
                <a:latin typeface="Calibri"/>
                <a:cs typeface="Calibri"/>
              </a:rPr>
              <a:t>with</a:t>
            </a:r>
            <a:r>
              <a:rPr dirty="0" sz="800" spc="229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75" i="1">
                <a:solidFill>
                  <a:srgbClr val="3D7A7A"/>
                </a:solidFill>
                <a:latin typeface="Calibri"/>
                <a:cs typeface="Calibri"/>
              </a:rPr>
              <a:t>current</a:t>
            </a:r>
            <a:r>
              <a:rPr dirty="0" sz="800" spc="229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75" i="1">
                <a:solidFill>
                  <a:srgbClr val="3D7A7A"/>
                </a:solidFill>
                <a:latin typeface="Calibri"/>
                <a:cs typeface="Calibri"/>
              </a:rPr>
              <a:t>r_val</a:t>
            </a:r>
            <a:endParaRPr sz="800">
              <a:latin typeface="Calibri"/>
              <a:cs typeface="Calibri"/>
            </a:endParaRPr>
          </a:p>
          <a:p>
            <a:pPr marL="340360">
              <a:lnSpc>
                <a:spcPts val="955"/>
              </a:lnSpc>
            </a:pPr>
            <a:r>
              <a:rPr dirty="0" sz="800" spc="-25" i="1">
                <a:solidFill>
                  <a:srgbClr val="3D7A7A"/>
                </a:solidFill>
                <a:latin typeface="Calibri"/>
                <a:cs typeface="Calibri"/>
              </a:rPr>
              <a:t>%</a:t>
            </a:r>
            <a:r>
              <a:rPr dirty="0" sz="800" spc="90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190" i="1">
                <a:solidFill>
                  <a:srgbClr val="3D7A7A"/>
                </a:solidFill>
                <a:latin typeface="Calibri"/>
                <a:cs typeface="Calibri"/>
              </a:rPr>
              <a:t>...</a:t>
            </a:r>
            <a:endParaRPr sz="800">
              <a:latin typeface="Calibri"/>
              <a:cs typeface="Calibri"/>
            </a:endParaRPr>
          </a:p>
          <a:p>
            <a:pPr marL="340360">
              <a:lnSpc>
                <a:spcPts val="955"/>
              </a:lnSpc>
              <a:spcBef>
                <a:spcPts val="935"/>
              </a:spcBef>
            </a:pPr>
            <a:r>
              <a:rPr dirty="0" sz="800" spc="-25" i="1">
                <a:solidFill>
                  <a:srgbClr val="3D7A7A"/>
                </a:solidFill>
                <a:latin typeface="Calibri"/>
                <a:cs typeface="Calibri"/>
              </a:rPr>
              <a:t>%</a:t>
            </a:r>
            <a:r>
              <a:rPr dirty="0" sz="800" spc="204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75" i="1">
                <a:solidFill>
                  <a:srgbClr val="3D7A7A"/>
                </a:solidFill>
                <a:latin typeface="Calibri"/>
                <a:cs typeface="Calibri"/>
              </a:rPr>
              <a:t>Solve</a:t>
            </a:r>
            <a:r>
              <a:rPr dirty="0" sz="800" spc="210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100" i="1">
                <a:solidFill>
                  <a:srgbClr val="3D7A7A"/>
                </a:solidFill>
                <a:latin typeface="Calibri"/>
                <a:cs typeface="Calibri"/>
              </a:rPr>
              <a:t>for</a:t>
            </a:r>
            <a:r>
              <a:rPr dirty="0" sz="800" spc="210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60" i="1">
                <a:solidFill>
                  <a:srgbClr val="3D7A7A"/>
                </a:solidFill>
                <a:latin typeface="Calibri"/>
                <a:cs typeface="Calibri"/>
              </a:rPr>
              <a:t>the</a:t>
            </a:r>
            <a:r>
              <a:rPr dirty="0" sz="800" spc="204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90" i="1">
                <a:solidFill>
                  <a:srgbClr val="3D7A7A"/>
                </a:solidFill>
                <a:latin typeface="Calibri"/>
                <a:cs typeface="Calibri"/>
              </a:rPr>
              <a:t>central</a:t>
            </a:r>
            <a:r>
              <a:rPr dirty="0" sz="800" spc="210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3D7A7A"/>
                </a:solidFill>
                <a:latin typeface="Calibri"/>
                <a:cs typeface="Calibri"/>
              </a:rPr>
              <a:t>path</a:t>
            </a:r>
            <a:endParaRPr sz="800">
              <a:latin typeface="Calibri"/>
              <a:cs typeface="Calibri"/>
            </a:endParaRPr>
          </a:p>
          <a:p>
            <a:pPr marL="340360">
              <a:lnSpc>
                <a:spcPts val="944"/>
              </a:lnSpc>
            </a:pPr>
            <a:r>
              <a:rPr dirty="0" sz="800" spc="60">
                <a:latin typeface="Calibri"/>
                <a:cs typeface="Calibri"/>
              </a:rPr>
              <a:t>x_center</a:t>
            </a:r>
            <a:r>
              <a:rPr dirty="0" sz="800" spc="370">
                <a:latin typeface="Calibri"/>
                <a:cs typeface="Calibri"/>
              </a:rPr>
              <a:t> </a:t>
            </a:r>
            <a:r>
              <a:rPr dirty="0" sz="800" spc="30">
                <a:latin typeface="Calibri"/>
                <a:cs typeface="Calibri"/>
              </a:rPr>
              <a:t>=</a:t>
            </a:r>
            <a:r>
              <a:rPr dirty="0" sz="800" spc="370">
                <a:latin typeface="Calibri"/>
                <a:cs typeface="Calibri"/>
              </a:rPr>
              <a:t> </a:t>
            </a:r>
            <a:r>
              <a:rPr dirty="0" sz="800" spc="30">
                <a:latin typeface="Calibri"/>
                <a:cs typeface="Calibri"/>
              </a:rPr>
              <a:t>newtonSolver(Grad_Q_prime,</a:t>
            </a:r>
            <a:r>
              <a:rPr dirty="0" sz="800" spc="370">
                <a:latin typeface="Calibri"/>
                <a:cs typeface="Calibri"/>
              </a:rPr>
              <a:t> </a:t>
            </a:r>
            <a:r>
              <a:rPr dirty="0" sz="800" spc="195">
                <a:solidFill>
                  <a:srgbClr val="007F00"/>
                </a:solidFill>
                <a:latin typeface="Calibri"/>
                <a:cs typeface="Calibri"/>
              </a:rPr>
              <a:t>...</a:t>
            </a:r>
            <a:endParaRPr sz="800">
              <a:latin typeface="Calibri"/>
              <a:cs typeface="Calibri"/>
            </a:endParaRPr>
          </a:p>
          <a:p>
            <a:pPr marL="932180">
              <a:lnSpc>
                <a:spcPts val="955"/>
              </a:lnSpc>
            </a:pPr>
            <a:r>
              <a:rPr dirty="0" sz="800" spc="45">
                <a:latin typeface="Calibri"/>
                <a:cs typeface="Calibri"/>
              </a:rPr>
              <a:t>Hessian_Q_prime,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 spc="85">
                <a:latin typeface="Calibri"/>
                <a:cs typeface="Calibri"/>
              </a:rPr>
              <a:t>x_k);</a:t>
            </a:r>
            <a:endParaRPr sz="800">
              <a:latin typeface="Calibri"/>
              <a:cs typeface="Calibri"/>
            </a:endParaRPr>
          </a:p>
          <a:p>
            <a:pPr marL="555625" marR="2706370" indent="-215265">
              <a:lnSpc>
                <a:spcPts val="950"/>
              </a:lnSpc>
              <a:spcBef>
                <a:spcPts val="969"/>
              </a:spcBef>
            </a:pPr>
            <a:r>
              <a:rPr dirty="0" sz="800" spc="200">
                <a:solidFill>
                  <a:srgbClr val="007F00"/>
                </a:solidFill>
                <a:latin typeface="Calibri"/>
                <a:cs typeface="Calibri"/>
              </a:rPr>
              <a:t>if</a:t>
            </a:r>
            <a:r>
              <a:rPr dirty="0" sz="800" spc="240">
                <a:solidFill>
                  <a:srgbClr val="007F00"/>
                </a:solidFill>
                <a:latin typeface="Calibri"/>
                <a:cs typeface="Calibri"/>
              </a:rPr>
              <a:t> </a:t>
            </a:r>
            <a:r>
              <a:rPr dirty="0" sz="800" spc="100">
                <a:latin typeface="Calibri"/>
                <a:cs typeface="Calibri"/>
              </a:rPr>
              <a:t>r_val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&lt;</a:t>
            </a:r>
            <a:r>
              <a:rPr dirty="0" sz="800" spc="245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R_TOLERANCE</a:t>
            </a:r>
            <a:r>
              <a:rPr dirty="0" sz="800" spc="50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x_opt</a:t>
            </a:r>
            <a:r>
              <a:rPr dirty="0" sz="800" spc="36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365">
                <a:latin typeface="Calibri"/>
                <a:cs typeface="Calibri"/>
              </a:rPr>
              <a:t> </a:t>
            </a:r>
            <a:r>
              <a:rPr dirty="0" sz="800" spc="70">
                <a:latin typeface="Calibri"/>
                <a:cs typeface="Calibri"/>
              </a:rPr>
              <a:t>x_center; </a:t>
            </a:r>
            <a:r>
              <a:rPr dirty="0" sz="800" spc="85">
                <a:solidFill>
                  <a:srgbClr val="007F00"/>
                </a:solidFill>
                <a:latin typeface="Calibri"/>
                <a:cs typeface="Calibri"/>
              </a:rPr>
              <a:t>return</a:t>
            </a:r>
            <a:r>
              <a:rPr dirty="0" sz="800" spc="85">
                <a:latin typeface="Calibri"/>
                <a:cs typeface="Calibri"/>
              </a:rPr>
              <a:t>;</a:t>
            </a:r>
            <a:endParaRPr sz="800">
              <a:latin typeface="Calibri"/>
              <a:cs typeface="Calibri"/>
            </a:endParaRPr>
          </a:p>
          <a:p>
            <a:pPr marL="340360">
              <a:lnSpc>
                <a:spcPts val="910"/>
              </a:lnSpc>
            </a:pPr>
            <a:r>
              <a:rPr dirty="0" sz="800" spc="-25">
                <a:solidFill>
                  <a:srgbClr val="007F00"/>
                </a:solidFill>
                <a:latin typeface="Calibri"/>
                <a:cs typeface="Calibri"/>
              </a:rPr>
              <a:t>end</a:t>
            </a:r>
            <a:endParaRPr sz="800">
              <a:latin typeface="Calibri"/>
              <a:cs typeface="Calibri"/>
            </a:endParaRPr>
          </a:p>
          <a:p>
            <a:pPr marL="340360">
              <a:lnSpc>
                <a:spcPts val="955"/>
              </a:lnSpc>
              <a:spcBef>
                <a:spcPts val="935"/>
              </a:spcBef>
            </a:pPr>
            <a:r>
              <a:rPr dirty="0" sz="800" spc="-25" i="1">
                <a:solidFill>
                  <a:srgbClr val="3D7A7A"/>
                </a:solidFill>
                <a:latin typeface="Calibri"/>
                <a:cs typeface="Calibri"/>
              </a:rPr>
              <a:t>%</a:t>
            </a:r>
            <a:r>
              <a:rPr dirty="0" sz="800" spc="290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3D7A7A"/>
                </a:solidFill>
                <a:latin typeface="Calibri"/>
                <a:cs typeface="Calibri"/>
              </a:rPr>
              <a:t>Decrease</a:t>
            </a:r>
            <a:r>
              <a:rPr dirty="0" sz="800" spc="295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60" i="1">
                <a:solidFill>
                  <a:srgbClr val="3D7A7A"/>
                </a:solidFill>
                <a:latin typeface="Calibri"/>
                <a:cs typeface="Calibri"/>
              </a:rPr>
              <a:t>the</a:t>
            </a:r>
            <a:r>
              <a:rPr dirty="0" sz="800" spc="295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95" i="1">
                <a:solidFill>
                  <a:srgbClr val="3D7A7A"/>
                </a:solidFill>
                <a:latin typeface="Calibri"/>
                <a:cs typeface="Calibri"/>
              </a:rPr>
              <a:t>barrier</a:t>
            </a:r>
            <a:r>
              <a:rPr dirty="0" sz="800" spc="295" i="1">
                <a:solidFill>
                  <a:srgbClr val="3D7A7A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3D7A7A"/>
                </a:solidFill>
                <a:latin typeface="Calibri"/>
                <a:cs typeface="Calibri"/>
              </a:rPr>
              <a:t>parameter</a:t>
            </a:r>
            <a:endParaRPr sz="800">
              <a:latin typeface="Calibri"/>
              <a:cs typeface="Calibri"/>
            </a:endParaRPr>
          </a:p>
          <a:p>
            <a:pPr marL="340360">
              <a:lnSpc>
                <a:spcPts val="955"/>
              </a:lnSpc>
            </a:pPr>
            <a:r>
              <a:rPr dirty="0" sz="800" spc="100">
                <a:latin typeface="Calibri"/>
                <a:cs typeface="Calibri"/>
              </a:rPr>
              <a:t>r_val</a:t>
            </a:r>
            <a:r>
              <a:rPr dirty="0" sz="800" spc="210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210">
                <a:latin typeface="Calibri"/>
                <a:cs typeface="Calibri"/>
              </a:rPr>
              <a:t> </a:t>
            </a:r>
            <a:r>
              <a:rPr dirty="0" sz="800" spc="-45">
                <a:latin typeface="Calibri"/>
                <a:cs typeface="Calibri"/>
              </a:rPr>
              <a:t>mu</a:t>
            </a:r>
            <a:r>
              <a:rPr dirty="0" sz="800" spc="215"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66666"/>
                </a:solidFill>
                <a:latin typeface="Calibri"/>
                <a:cs typeface="Calibri"/>
              </a:rPr>
              <a:t>*</a:t>
            </a:r>
            <a:r>
              <a:rPr dirty="0" sz="800" spc="21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dirty="0" sz="800" spc="105">
                <a:latin typeface="Calibri"/>
                <a:cs typeface="Calibri"/>
              </a:rPr>
              <a:t>r_val;</a:t>
            </a:r>
            <a:endParaRPr sz="800">
              <a:latin typeface="Calibri"/>
              <a:cs typeface="Calibri"/>
            </a:endParaRPr>
          </a:p>
          <a:p>
            <a:pPr marL="340360">
              <a:lnSpc>
                <a:spcPts val="955"/>
              </a:lnSpc>
              <a:spcBef>
                <a:spcPts val="935"/>
              </a:spcBef>
            </a:pPr>
            <a:r>
              <a:rPr dirty="0" sz="800" spc="50">
                <a:latin typeface="Calibri"/>
                <a:cs typeface="Calibri"/>
              </a:rPr>
              <a:t>x_k</a:t>
            </a:r>
            <a:r>
              <a:rPr dirty="0" sz="800" spc="245"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=</a:t>
            </a:r>
            <a:r>
              <a:rPr dirty="0" sz="800" spc="250">
                <a:latin typeface="Calibri"/>
                <a:cs typeface="Calibri"/>
              </a:rPr>
              <a:t> </a:t>
            </a:r>
            <a:r>
              <a:rPr dirty="0" sz="800" spc="70">
                <a:latin typeface="Calibri"/>
                <a:cs typeface="Calibri"/>
              </a:rPr>
              <a:t>x_center;</a:t>
            </a:r>
            <a:endParaRPr sz="800">
              <a:latin typeface="Calibri"/>
              <a:cs typeface="Calibri"/>
            </a:endParaRPr>
          </a:p>
          <a:p>
            <a:pPr marL="125730">
              <a:lnSpc>
                <a:spcPts val="955"/>
              </a:lnSpc>
            </a:pPr>
            <a:r>
              <a:rPr dirty="0" sz="800" spc="-25">
                <a:solidFill>
                  <a:srgbClr val="007F00"/>
                </a:solidFill>
                <a:latin typeface="Calibri"/>
                <a:cs typeface="Calibri"/>
              </a:rPr>
              <a:t>end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138544" y="2945663"/>
            <a:ext cx="4331335" cy="236854"/>
            <a:chOff x="138544" y="2945663"/>
            <a:chExt cx="4331335" cy="236854"/>
          </a:xfrm>
        </p:grpSpPr>
        <p:sp>
          <p:nvSpPr>
            <p:cNvPr id="65" name="object 65" descr=""/>
            <p:cNvSpPr/>
            <p:nvPr/>
          </p:nvSpPr>
          <p:spPr>
            <a:xfrm>
              <a:off x="4466920" y="2945663"/>
              <a:ext cx="0" cy="123825"/>
            </a:xfrm>
            <a:custGeom>
              <a:avLst/>
              <a:gdLst/>
              <a:ahLst/>
              <a:cxnLst/>
              <a:rect l="l" t="t" r="r" b="b"/>
              <a:pathLst>
                <a:path w="0" h="123825">
                  <a:moveTo>
                    <a:pt x="0" y="12336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41071" y="3069031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w="0" h="108585">
                  <a:moveTo>
                    <a:pt x="0" y="10800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4466920" y="3069031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w="0" h="108585">
                  <a:moveTo>
                    <a:pt x="0" y="108000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38544" y="3179559"/>
              <a:ext cx="4331335" cy="0"/>
            </a:xfrm>
            <a:custGeom>
              <a:avLst/>
              <a:gdLst/>
              <a:ahLst/>
              <a:cxnLst/>
              <a:rect l="l" t="t" r="r" b="b"/>
              <a:pathLst>
                <a:path w="4331335" h="0">
                  <a:moveTo>
                    <a:pt x="0" y="0"/>
                  </a:moveTo>
                  <a:lnTo>
                    <a:pt x="4330903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0" name="object 70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74" name="object 74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5" name="object 7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76" name="object 7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r>
              <a:rPr dirty="0" spc="-10"/>
              <a:t>7</a:t>
            </a:r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2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Final</a:t>
            </a:r>
            <a:r>
              <a:rPr dirty="0" spc="-30"/>
              <a:t> </a:t>
            </a:r>
            <a:r>
              <a:rPr dirty="0" spc="-20"/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45118" y="1457780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0</a:t>
            </a:r>
            <a:r>
              <a:rPr dirty="0" sz="1100" spc="-60" i="1">
                <a:latin typeface="Verdana"/>
                <a:cs typeface="Verdana"/>
              </a:rPr>
              <a:t>.</a:t>
            </a:r>
            <a:r>
              <a:rPr dirty="0" sz="1100" spc="-60">
                <a:latin typeface="Tahoma"/>
                <a:cs typeface="Tahoma"/>
              </a:rPr>
              <a:t>667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379764" y="1629853"/>
            <a:ext cx="2717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0</a:t>
            </a:r>
            <a:r>
              <a:rPr dirty="0" sz="1100" spc="-60" i="1">
                <a:latin typeface="Verdana"/>
                <a:cs typeface="Verdana"/>
              </a:rPr>
              <a:t>.</a:t>
            </a:r>
            <a:r>
              <a:rPr dirty="0" sz="1100" spc="-60">
                <a:latin typeface="Tahoma"/>
                <a:cs typeface="Tahoma"/>
              </a:rPr>
              <a:t>25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0444" y="814398"/>
            <a:ext cx="3231515" cy="491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solution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obtained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Interior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Method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  <a:p>
            <a:pPr marL="2136140">
              <a:lnSpc>
                <a:spcPct val="100000"/>
              </a:lnSpc>
              <a:spcBef>
                <a:spcPts val="1035"/>
              </a:spcBef>
            </a:pPr>
            <a:r>
              <a:rPr dirty="0" baseline="40404" sz="1650" spc="-15">
                <a:latin typeface="Lucida Sans Unicode"/>
                <a:cs typeface="Lucida Sans Unicode"/>
              </a:rPr>
              <a:t></a:t>
            </a:r>
            <a:r>
              <a:rPr dirty="0" sz="1100" spc="-10">
                <a:latin typeface="Tahoma"/>
                <a:cs typeface="Tahoma"/>
              </a:rPr>
              <a:t>1</a:t>
            </a:r>
            <a:r>
              <a:rPr dirty="0" sz="1100" spc="-10" i="1">
                <a:latin typeface="Verdana"/>
                <a:cs typeface="Verdana"/>
              </a:rPr>
              <a:t>.</a:t>
            </a:r>
            <a:r>
              <a:rPr dirty="0" sz="1100" spc="-10">
                <a:latin typeface="Tahoma"/>
                <a:cs typeface="Tahoma"/>
              </a:rPr>
              <a:t>333</a:t>
            </a:r>
            <a:r>
              <a:rPr dirty="0" baseline="40404" sz="1650" spc="-15">
                <a:latin typeface="Lucida Sans Unicode"/>
                <a:cs typeface="Lucida Sans Unicode"/>
              </a:rPr>
              <a:t></a:t>
            </a:r>
            <a:endParaRPr baseline="40404" sz="16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775269" y="1285695"/>
            <a:ext cx="1057910" cy="299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82295">
              <a:lnSpc>
                <a:spcPts val="1085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1</a:t>
            </a:r>
            <a:r>
              <a:rPr dirty="0" sz="1100" spc="-20" i="1">
                <a:latin typeface="Verdana"/>
                <a:cs typeface="Verdana"/>
              </a:rPr>
              <a:t>.</a:t>
            </a:r>
            <a:r>
              <a:rPr dirty="0" sz="1100" spc="-20">
                <a:latin typeface="Tahoma"/>
                <a:cs typeface="Tahoma"/>
              </a:rPr>
              <a:t>667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ts val="1085"/>
              </a:lnSpc>
              <a:tabLst>
                <a:tab pos="897890" algn="l"/>
              </a:tabLst>
            </a:pPr>
            <a:r>
              <a:rPr dirty="0" baseline="7575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ipm</a:t>
            </a:r>
            <a:r>
              <a:rPr dirty="0" sz="800" spc="145" i="1">
                <a:latin typeface="Arial"/>
                <a:cs typeface="Arial"/>
              </a:rPr>
              <a:t> </a:t>
            </a:r>
            <a:r>
              <a:rPr dirty="0" baseline="7575" sz="1650">
                <a:latin typeface="Tahoma"/>
                <a:cs typeface="Tahoma"/>
              </a:rPr>
              <a:t>=</a:t>
            </a:r>
            <a:r>
              <a:rPr dirty="0" baseline="7575" sz="1650" spc="-60">
                <a:latin typeface="Tahoma"/>
                <a:cs typeface="Tahoma"/>
              </a:rPr>
              <a:t> </a:t>
            </a:r>
            <a:r>
              <a:rPr dirty="0" baseline="22727" sz="1650" spc="-75">
                <a:latin typeface="Lucida Sans Unicode"/>
                <a:cs typeface="Lucida Sans Unicode"/>
              </a:rPr>
              <a:t></a:t>
            </a:r>
            <a:r>
              <a:rPr dirty="0" baseline="22727" sz="1650">
                <a:latin typeface="Lucida Sans Unicode"/>
                <a:cs typeface="Lucida Sans Unicode"/>
              </a:rPr>
              <a:t>	</a:t>
            </a:r>
            <a:r>
              <a:rPr dirty="0" baseline="22727" sz="1650" spc="-75">
                <a:latin typeface="Lucida Sans Unicode"/>
                <a:cs typeface="Lucida Sans Unicode"/>
              </a:rPr>
              <a:t></a:t>
            </a:r>
            <a:endParaRPr baseline="22727" sz="165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23897" y="1425992"/>
            <a:ext cx="583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8945" algn="l"/>
              </a:tabLst>
            </a:pPr>
            <a:r>
              <a:rPr dirty="0" sz="1100" spc="-50">
                <a:latin typeface="Lucida Sans Unicode"/>
                <a:cs typeface="Lucida Sans Unicode"/>
              </a:rPr>
              <a:t>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90">
                <a:latin typeface="Lucida Sans Unicode"/>
                <a:cs typeface="Lucida Sans Unicode"/>
              </a:rPr>
              <a:t>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8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Final</a:t>
            </a:r>
            <a:r>
              <a:rPr dirty="0" spc="-30"/>
              <a:t> </a:t>
            </a:r>
            <a:r>
              <a:rPr dirty="0" spc="-20"/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345118" y="1457780"/>
            <a:ext cx="3409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0</a:t>
            </a:r>
            <a:r>
              <a:rPr dirty="0" sz="1100" spc="-60" i="1">
                <a:latin typeface="Verdana"/>
                <a:cs typeface="Verdana"/>
              </a:rPr>
              <a:t>.</a:t>
            </a:r>
            <a:r>
              <a:rPr dirty="0" sz="1100" spc="-60">
                <a:latin typeface="Tahoma"/>
                <a:cs typeface="Tahoma"/>
              </a:rPr>
              <a:t>667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0444" y="814398"/>
            <a:ext cx="3231515" cy="491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solution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obtained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Interior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Method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  <a:p>
            <a:pPr marL="2136140">
              <a:lnSpc>
                <a:spcPct val="100000"/>
              </a:lnSpc>
              <a:spcBef>
                <a:spcPts val="1035"/>
              </a:spcBef>
            </a:pPr>
            <a:r>
              <a:rPr dirty="0" baseline="40404" sz="1650" spc="-15">
                <a:latin typeface="Lucida Sans Unicode"/>
                <a:cs typeface="Lucida Sans Unicode"/>
              </a:rPr>
              <a:t></a:t>
            </a:r>
            <a:r>
              <a:rPr dirty="0" sz="1100" spc="-10">
                <a:latin typeface="Tahoma"/>
                <a:cs typeface="Tahoma"/>
              </a:rPr>
              <a:t>1</a:t>
            </a:r>
            <a:r>
              <a:rPr dirty="0" sz="1100" spc="-10" i="1">
                <a:latin typeface="Verdana"/>
                <a:cs typeface="Verdana"/>
              </a:rPr>
              <a:t>.</a:t>
            </a:r>
            <a:r>
              <a:rPr dirty="0" sz="1100" spc="-10">
                <a:latin typeface="Tahoma"/>
                <a:cs typeface="Tahoma"/>
              </a:rPr>
              <a:t>333</a:t>
            </a:r>
            <a:r>
              <a:rPr dirty="0" baseline="40404" sz="1650" spc="-15">
                <a:latin typeface="Lucida Sans Unicode"/>
                <a:cs typeface="Lucida Sans Unicode"/>
              </a:rPr>
              <a:t></a:t>
            </a:r>
            <a:endParaRPr baseline="40404" sz="165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75269" y="1285695"/>
            <a:ext cx="1057910" cy="299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82295">
              <a:lnSpc>
                <a:spcPts val="1085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1</a:t>
            </a:r>
            <a:r>
              <a:rPr dirty="0" sz="1100" spc="-20" i="1">
                <a:latin typeface="Verdana"/>
                <a:cs typeface="Verdana"/>
              </a:rPr>
              <a:t>.</a:t>
            </a:r>
            <a:r>
              <a:rPr dirty="0" sz="1100" spc="-20">
                <a:latin typeface="Tahoma"/>
                <a:cs typeface="Tahoma"/>
              </a:rPr>
              <a:t>667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ts val="1085"/>
              </a:lnSpc>
              <a:tabLst>
                <a:tab pos="897890" algn="l"/>
              </a:tabLst>
            </a:pPr>
            <a:r>
              <a:rPr dirty="0" baseline="7575" sz="1650" i="1">
                <a:latin typeface="Arial"/>
                <a:cs typeface="Arial"/>
              </a:rPr>
              <a:t>x</a:t>
            </a:r>
            <a:r>
              <a:rPr dirty="0" sz="800" i="1">
                <a:latin typeface="Arial"/>
                <a:cs typeface="Arial"/>
              </a:rPr>
              <a:t>ipm</a:t>
            </a:r>
            <a:r>
              <a:rPr dirty="0" sz="800" spc="145" i="1">
                <a:latin typeface="Arial"/>
                <a:cs typeface="Arial"/>
              </a:rPr>
              <a:t> </a:t>
            </a:r>
            <a:r>
              <a:rPr dirty="0" baseline="7575" sz="1650">
                <a:latin typeface="Tahoma"/>
                <a:cs typeface="Tahoma"/>
              </a:rPr>
              <a:t>=</a:t>
            </a:r>
            <a:r>
              <a:rPr dirty="0" baseline="7575" sz="1650" spc="-60">
                <a:latin typeface="Tahoma"/>
                <a:cs typeface="Tahoma"/>
              </a:rPr>
              <a:t> </a:t>
            </a:r>
            <a:r>
              <a:rPr dirty="0" baseline="22727" sz="1650" spc="-75">
                <a:latin typeface="Lucida Sans Unicode"/>
                <a:cs typeface="Lucida Sans Unicode"/>
              </a:rPr>
              <a:t></a:t>
            </a:r>
            <a:r>
              <a:rPr dirty="0" baseline="22727" sz="1650">
                <a:latin typeface="Lucida Sans Unicode"/>
                <a:cs typeface="Lucida Sans Unicode"/>
              </a:rPr>
              <a:t>	</a:t>
            </a:r>
            <a:r>
              <a:rPr dirty="0" baseline="22727" sz="1650" spc="-75">
                <a:latin typeface="Lucida Sans Unicode"/>
                <a:cs typeface="Lucida Sans Unicode"/>
              </a:rPr>
              <a:t></a:t>
            </a:r>
            <a:endParaRPr baseline="22727" sz="16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23897" y="1425992"/>
            <a:ext cx="5835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8945" algn="l"/>
              </a:tabLst>
            </a:pPr>
            <a:r>
              <a:rPr dirty="0" sz="1100" spc="-50">
                <a:latin typeface="Lucida Sans Unicode"/>
                <a:cs typeface="Lucida Sans Unicode"/>
              </a:rPr>
              <a:t>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90">
                <a:latin typeface="Lucida Sans Unicode"/>
                <a:cs typeface="Lucida Sans Unicode"/>
              </a:rPr>
              <a:t>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5844" y="1629853"/>
            <a:ext cx="3418840" cy="491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66315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0</a:t>
            </a:r>
            <a:r>
              <a:rPr dirty="0" sz="1100" spc="-20" i="1">
                <a:latin typeface="Verdana"/>
                <a:cs typeface="Verdana"/>
              </a:rPr>
              <a:t>.</a:t>
            </a:r>
            <a:r>
              <a:rPr dirty="0" sz="1100" spc="-20">
                <a:latin typeface="Tahoma"/>
                <a:cs typeface="Tahoma"/>
              </a:rPr>
              <a:t>25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verified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using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MATLAB’s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‘quadprog‘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function.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7743" y="2208961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38544" y="2237422"/>
            <a:ext cx="1424305" cy="1536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5"/>
              </a:lnSpc>
            </a:pP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Result </a:t>
            </a:r>
            <a:r>
              <a:rPr dirty="0" sz="1200" spc="-45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dirty="0" sz="12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ahoma"/>
                <a:cs typeface="Tahoma"/>
              </a:rPr>
              <a:t>‘quadprog‘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87743" y="2265899"/>
            <a:ext cx="4483735" cy="417195"/>
            <a:chOff x="87743" y="2265899"/>
            <a:chExt cx="4483735" cy="41719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2394686"/>
              <a:ext cx="4432566" cy="5060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38544" y="2265899"/>
              <a:ext cx="4432935" cy="417195"/>
            </a:xfrm>
            <a:custGeom>
              <a:avLst/>
              <a:gdLst/>
              <a:ahLst/>
              <a:cxnLst/>
              <a:rect l="l" t="t" r="r" b="b"/>
              <a:pathLst>
                <a:path w="4432935" h="417194">
                  <a:moveTo>
                    <a:pt x="4432566" y="0"/>
                  </a:moveTo>
                  <a:lnTo>
                    <a:pt x="0" y="0"/>
                  </a:lnTo>
                  <a:lnTo>
                    <a:pt x="0" y="416747"/>
                  </a:lnTo>
                  <a:lnTo>
                    <a:pt x="4432566" y="41674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7743" y="2438961"/>
              <a:ext cx="4432935" cy="193040"/>
            </a:xfrm>
            <a:custGeom>
              <a:avLst/>
              <a:gdLst/>
              <a:ahLst/>
              <a:cxnLst/>
              <a:rect l="l" t="t" r="r" b="b"/>
              <a:pathLst>
                <a:path w="4432935" h="193039">
                  <a:moveTo>
                    <a:pt x="44325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4381765" y="192885"/>
                  </a:lnTo>
                  <a:lnTo>
                    <a:pt x="4401490" y="188876"/>
                  </a:lnTo>
                  <a:lnTo>
                    <a:pt x="4417643" y="177962"/>
                  </a:lnTo>
                  <a:lnTo>
                    <a:pt x="4428558" y="161809"/>
                  </a:lnTo>
                  <a:lnTo>
                    <a:pt x="4432566" y="14208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38544" y="2265899"/>
            <a:ext cx="4432935" cy="41719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2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result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‘quadprog‘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identical, </a:t>
            </a:r>
            <a:r>
              <a:rPr dirty="0" sz="1100" spc="-35">
                <a:latin typeface="Tahoma"/>
                <a:cs typeface="Tahoma"/>
              </a:rPr>
              <a:t>confirming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solution.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8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Experiment</a:t>
            </a:r>
            <a:r>
              <a:rPr dirty="0" spc="-70"/>
              <a:t> </a:t>
            </a:r>
            <a:r>
              <a:rPr dirty="0"/>
              <a:t>1:</a:t>
            </a:r>
            <a:r>
              <a:rPr dirty="0" spc="55"/>
              <a:t> </a:t>
            </a:r>
            <a:r>
              <a:rPr dirty="0" spc="-20"/>
              <a:t>Scaling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20"/>
              <a:t>Problem</a:t>
            </a:r>
            <a:r>
              <a:rPr dirty="0" spc="-65"/>
              <a:t> </a:t>
            </a:r>
            <a:r>
              <a:rPr dirty="0" spc="-30"/>
              <a:t>Coefficients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797025"/>
            <a:ext cx="3321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scale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7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factor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compare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104" y="1101752"/>
            <a:ext cx="3870101" cy="77264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763587" y="1995810"/>
            <a:ext cx="30816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Initial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Result: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method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fails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</a:t>
            </a:r>
            <a:r>
              <a:rPr dirty="0" sz="1000" spc="-40">
                <a:latin typeface="Tahoma"/>
                <a:cs typeface="Tahoma"/>
              </a:rPr>
              <a:t> scale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increases.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Experiment</a:t>
            </a:r>
            <a:r>
              <a:rPr dirty="0" spc="-70"/>
              <a:t> </a:t>
            </a:r>
            <a:r>
              <a:rPr dirty="0"/>
              <a:t>1:</a:t>
            </a:r>
            <a:r>
              <a:rPr dirty="0" spc="55"/>
              <a:t> </a:t>
            </a:r>
            <a:r>
              <a:rPr dirty="0" spc="-20"/>
              <a:t>Scaling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20"/>
              <a:t>Problem</a:t>
            </a:r>
            <a:r>
              <a:rPr dirty="0" spc="-65"/>
              <a:t> </a:t>
            </a:r>
            <a:r>
              <a:rPr dirty="0" spc="-30"/>
              <a:t>Coefficients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797025"/>
            <a:ext cx="3321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scale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Q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7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by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factor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compare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performance.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104" y="1101752"/>
            <a:ext cx="3870101" cy="77264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5844" y="1995810"/>
            <a:ext cx="4084320" cy="726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5024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Initial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Result: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method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fails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as</a:t>
            </a:r>
            <a:r>
              <a:rPr dirty="0" sz="1000" spc="-40">
                <a:latin typeface="Tahoma"/>
                <a:cs typeface="Tahoma"/>
              </a:rPr>
              <a:t> scale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increases.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50" b="1">
                <a:latin typeface="Arial"/>
                <a:cs typeface="Arial"/>
              </a:rPr>
              <a:t>Reason:</a:t>
            </a:r>
            <a:r>
              <a:rPr dirty="0" sz="1100" spc="8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initial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barrier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parameter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105" i="1">
                <a:latin typeface="Arial"/>
                <a:cs typeface="Arial"/>
              </a:rPr>
              <a:t> </a:t>
            </a:r>
            <a:r>
              <a:rPr dirty="0" sz="1100" spc="-75">
                <a:latin typeface="Tahoma"/>
                <a:cs typeface="Tahoma"/>
              </a:rPr>
              <a:t>was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fixed.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should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scaled </a:t>
            </a:r>
            <a:r>
              <a:rPr dirty="0" sz="1100" spc="-35">
                <a:latin typeface="Tahoma"/>
                <a:cs typeface="Tahoma"/>
              </a:rPr>
              <a:t>along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problem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4339638" y="3351784"/>
            <a:ext cx="21399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Experiment</a:t>
            </a:r>
            <a:r>
              <a:rPr dirty="0" spc="-70"/>
              <a:t> </a:t>
            </a:r>
            <a:r>
              <a:rPr dirty="0"/>
              <a:t>1:</a:t>
            </a:r>
            <a:r>
              <a:rPr dirty="0" spc="50"/>
              <a:t> </a:t>
            </a:r>
            <a:r>
              <a:rPr dirty="0" spc="-35"/>
              <a:t>Corrected</a:t>
            </a:r>
            <a:r>
              <a:rPr dirty="0" spc="-65"/>
              <a:t> </a:t>
            </a:r>
            <a:r>
              <a:rPr dirty="0" spc="-25"/>
              <a:t>Results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1027403"/>
            <a:ext cx="3463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After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scaling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r</a:t>
            </a:r>
            <a:r>
              <a:rPr dirty="0" sz="1100" spc="11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factor,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get</a:t>
            </a:r>
            <a:r>
              <a:rPr dirty="0" sz="1100" spc="-35">
                <a:latin typeface="Tahoma"/>
                <a:cs typeface="Tahoma"/>
              </a:rPr>
              <a:t> correct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results.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765" y="1366685"/>
            <a:ext cx="3411923" cy="47811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899083" y="1996737"/>
            <a:ext cx="2810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4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Corrected </a:t>
            </a:r>
            <a:r>
              <a:rPr dirty="0" sz="1000" spc="-20">
                <a:latin typeface="Tahoma"/>
                <a:cs typeface="Tahoma"/>
              </a:rPr>
              <a:t>Result: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The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method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is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now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stable.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 spc="-10"/>
              <a:t>10</a:t>
            </a:r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Experiment</a:t>
            </a:r>
            <a:r>
              <a:rPr dirty="0" spc="-70"/>
              <a:t> </a:t>
            </a:r>
            <a:r>
              <a:rPr dirty="0"/>
              <a:t>2:</a:t>
            </a:r>
            <a:r>
              <a:rPr dirty="0" spc="55"/>
              <a:t> </a:t>
            </a:r>
            <a:r>
              <a:rPr dirty="0" spc="-20"/>
              <a:t>Scaling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 spc="-20"/>
              <a:t>Problem</a:t>
            </a:r>
            <a:r>
              <a:rPr dirty="0" spc="-65"/>
              <a:t> </a:t>
            </a:r>
            <a:r>
              <a:rPr dirty="0" spc="-20"/>
              <a:t>Size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527695"/>
            <a:ext cx="65265" cy="6526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911" y="1737728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947760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5844" y="1019808"/>
            <a:ext cx="3968115" cy="1036319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compare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run-</a:t>
            </a:r>
            <a:r>
              <a:rPr dirty="0" sz="1100" spc="-20">
                <a:latin typeface="Tahoma"/>
                <a:cs typeface="Tahoma"/>
              </a:rPr>
              <a:t>time</a:t>
            </a:r>
            <a:r>
              <a:rPr dirty="0" sz="1100" spc="-35">
                <a:latin typeface="Tahoma"/>
                <a:cs typeface="Tahoma"/>
              </a:rPr>
              <a:t> by </a:t>
            </a:r>
            <a:r>
              <a:rPr dirty="0" sz="1100" spc="-40">
                <a:latin typeface="Tahoma"/>
                <a:cs typeface="Tahoma"/>
              </a:rPr>
              <a:t>increasing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number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variables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and constraints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</a:t>
            </a:r>
            <a:r>
              <a:rPr dirty="0" sz="1100" spc="-20" i="1">
                <a:latin typeface="Arial"/>
                <a:cs typeface="Arial"/>
              </a:rPr>
              <a:t>m</a:t>
            </a:r>
            <a:r>
              <a:rPr dirty="0" sz="1100" spc="-20"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  <a:p>
            <a:pPr marL="243204">
              <a:lnSpc>
                <a:spcPct val="100000"/>
              </a:lnSpc>
              <a:spcBef>
                <a:spcPts val="665"/>
              </a:spcBef>
            </a:pPr>
            <a:r>
              <a:rPr dirty="0" sz="1100" i="1">
                <a:latin typeface="Arial"/>
                <a:cs typeface="Arial"/>
              </a:rPr>
              <a:t>n</a:t>
            </a:r>
            <a:r>
              <a:rPr dirty="0" sz="1100" spc="2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[10</a:t>
            </a:r>
            <a:r>
              <a:rPr dirty="0" sz="1100" spc="-90" i="1">
                <a:latin typeface="Verdana"/>
                <a:cs typeface="Verdana"/>
              </a:rPr>
              <a:t>,</a:t>
            </a:r>
            <a:r>
              <a:rPr dirty="0" sz="1100" spc="-195" i="1">
                <a:latin typeface="Verdana"/>
                <a:cs typeface="Verdana"/>
              </a:rPr>
              <a:t> </a:t>
            </a:r>
            <a:r>
              <a:rPr dirty="0" sz="1100" spc="-80">
                <a:latin typeface="Tahoma"/>
                <a:cs typeface="Tahoma"/>
              </a:rPr>
              <a:t>40</a:t>
            </a:r>
            <a:r>
              <a:rPr dirty="0" sz="1100" spc="-80" i="1">
                <a:latin typeface="Verdana"/>
                <a:cs typeface="Verdana"/>
              </a:rPr>
              <a:t>,</a:t>
            </a:r>
            <a:r>
              <a:rPr dirty="0" sz="1100" spc="-200" i="1">
                <a:latin typeface="Verdana"/>
                <a:cs typeface="Verdana"/>
              </a:rPr>
              <a:t> </a:t>
            </a:r>
            <a:r>
              <a:rPr dirty="0" sz="1100" spc="-20">
                <a:latin typeface="Tahoma"/>
                <a:cs typeface="Tahoma"/>
              </a:rPr>
              <a:t>100]</a:t>
            </a:r>
            <a:endParaRPr sz="1100">
              <a:latin typeface="Tahoma"/>
              <a:cs typeface="Tahoma"/>
            </a:endParaRPr>
          </a:p>
          <a:p>
            <a:pPr marL="243204">
              <a:lnSpc>
                <a:spcPct val="100000"/>
              </a:lnSpc>
              <a:spcBef>
                <a:spcPts val="335"/>
              </a:spcBef>
            </a:pPr>
            <a:r>
              <a:rPr dirty="0" sz="1100" i="1">
                <a:latin typeface="Arial"/>
                <a:cs typeface="Arial"/>
              </a:rPr>
              <a:t>m</a:t>
            </a:r>
            <a:r>
              <a:rPr dirty="0" sz="1100" spc="1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80">
                <a:latin typeface="Tahoma"/>
                <a:cs typeface="Tahoma"/>
              </a:rPr>
              <a:t>0</a:t>
            </a:r>
            <a:r>
              <a:rPr dirty="0" sz="1100" spc="-80" i="1">
                <a:latin typeface="Verdana"/>
                <a:cs typeface="Verdana"/>
              </a:rPr>
              <a:t>.</a:t>
            </a:r>
            <a:r>
              <a:rPr dirty="0" sz="1100" spc="-80">
                <a:latin typeface="Tahoma"/>
                <a:cs typeface="Tahoma"/>
              </a:rPr>
              <a:t>5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×</a:t>
            </a:r>
            <a:r>
              <a:rPr dirty="0" sz="1100" spc="-100">
                <a:latin typeface="Lucida Sans Unicode"/>
                <a:cs typeface="Lucida Sans Unicode"/>
              </a:rPr>
              <a:t> </a:t>
            </a:r>
            <a:r>
              <a:rPr dirty="0" sz="1100" spc="-50" i="1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335"/>
              </a:spcBef>
            </a:pPr>
            <a:r>
              <a:rPr dirty="0" sz="1100" spc="-45">
                <a:latin typeface="Tahoma"/>
                <a:cs typeface="Tahoma"/>
              </a:rPr>
              <a:t>Compare </a:t>
            </a:r>
            <a:r>
              <a:rPr dirty="0" sz="1100" spc="-40">
                <a:latin typeface="Tahoma"/>
                <a:cs typeface="Tahoma"/>
              </a:rPr>
              <a:t>run-</a:t>
            </a:r>
            <a:r>
              <a:rPr dirty="0" sz="1100" spc="-25">
                <a:latin typeface="Tahoma"/>
                <a:cs typeface="Tahoma"/>
              </a:rPr>
              <a:t>time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IPM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6755" y="2036392"/>
            <a:ext cx="8934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vs.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‘quadprog‘.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0185" y="1569417"/>
            <a:ext cx="2161602" cy="42545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654998" y="2122010"/>
            <a:ext cx="15563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2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Run-</a:t>
            </a:r>
            <a:r>
              <a:rPr dirty="0" sz="1000" spc="-10">
                <a:latin typeface="Tahoma"/>
                <a:cs typeface="Tahoma"/>
              </a:rPr>
              <a:t>time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comparison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 spc="-10"/>
              <a:t>11</a:t>
            </a:r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Conclusion</a:t>
            </a:r>
            <a:r>
              <a:rPr dirty="0" spc="-60"/>
              <a:t> </a:t>
            </a:r>
            <a:r>
              <a:rPr dirty="0" spc="-20"/>
              <a:t>from</a:t>
            </a:r>
            <a:r>
              <a:rPr dirty="0" spc="-55"/>
              <a:t> </a:t>
            </a:r>
            <a:r>
              <a:rPr dirty="0" spc="-40"/>
              <a:t>Experiments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22082"/>
            <a:ext cx="65265" cy="65265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pc="-55" b="1">
                <a:latin typeface="Arial"/>
                <a:cs typeface="Arial"/>
              </a:rPr>
              <a:t>Correctness:</a:t>
            </a:r>
            <a:r>
              <a:rPr dirty="0" spc="90" b="1">
                <a:latin typeface="Arial"/>
                <a:cs typeface="Arial"/>
              </a:rPr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45"/>
              <a:t>implemented</a:t>
            </a:r>
            <a:r>
              <a:rPr dirty="0" spc="-35"/>
              <a:t> </a:t>
            </a:r>
            <a:r>
              <a:rPr dirty="0" spc="-40"/>
              <a:t>Interior</a:t>
            </a:r>
            <a:r>
              <a:rPr dirty="0" spc="-30"/>
              <a:t> </a:t>
            </a:r>
            <a:r>
              <a:rPr dirty="0"/>
              <a:t>Point</a:t>
            </a:r>
            <a:r>
              <a:rPr dirty="0" spc="-35"/>
              <a:t> </a:t>
            </a:r>
            <a:r>
              <a:rPr dirty="0"/>
              <a:t>Method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 spc="-30"/>
              <a:t>correct, </a:t>
            </a:r>
            <a:r>
              <a:rPr dirty="0" spc="-25"/>
              <a:t>but </a:t>
            </a:r>
            <a:r>
              <a:rPr dirty="0" spc="-50"/>
              <a:t>requires</a:t>
            </a:r>
            <a:r>
              <a:rPr dirty="0" spc="-40"/>
              <a:t> </a:t>
            </a:r>
            <a:r>
              <a:rPr dirty="0" spc="-35"/>
              <a:t>careful</a:t>
            </a:r>
            <a:r>
              <a:rPr dirty="0" spc="-50"/>
              <a:t> </a:t>
            </a:r>
            <a:r>
              <a:rPr dirty="0" spc="-20"/>
              <a:t>tuning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 spc="-50"/>
              <a:t>parameters</a:t>
            </a:r>
            <a:r>
              <a:rPr dirty="0" spc="-35"/>
              <a:t> </a:t>
            </a:r>
            <a:r>
              <a:rPr dirty="0" spc="-10"/>
              <a:t>like</a:t>
            </a:r>
            <a:r>
              <a:rPr dirty="0" spc="-35"/>
              <a:t> </a:t>
            </a:r>
            <a:r>
              <a:rPr dirty="0" spc="-10"/>
              <a:t>the</a:t>
            </a:r>
            <a:r>
              <a:rPr dirty="0" spc="-35"/>
              <a:t> </a:t>
            </a:r>
            <a:r>
              <a:rPr dirty="0"/>
              <a:t>initial</a:t>
            </a:r>
            <a:r>
              <a:rPr dirty="0" spc="-35"/>
              <a:t> </a:t>
            </a:r>
            <a:r>
              <a:rPr dirty="0" spc="-40"/>
              <a:t>barrier</a:t>
            </a:r>
            <a:r>
              <a:rPr dirty="0" spc="-35"/>
              <a:t> </a:t>
            </a:r>
            <a:r>
              <a:rPr dirty="0" spc="-45"/>
              <a:t>value</a:t>
            </a:r>
            <a:r>
              <a:rPr dirty="0" spc="-35"/>
              <a:t> </a:t>
            </a:r>
            <a:r>
              <a:rPr dirty="0" i="1">
                <a:latin typeface="Arial"/>
                <a:cs typeface="Arial"/>
              </a:rPr>
              <a:t>r</a:t>
            </a:r>
            <a:r>
              <a:rPr dirty="0" spc="-190" i="1">
                <a:latin typeface="Arial"/>
                <a:cs typeface="Arial"/>
              </a:rPr>
              <a:t> </a:t>
            </a:r>
            <a:r>
              <a:rPr dirty="0" spc="-50"/>
              <a:t>.</a:t>
            </a:r>
          </a:p>
          <a:p>
            <a:pPr marL="12700" marR="46355">
              <a:lnSpc>
                <a:spcPct val="102600"/>
              </a:lnSpc>
              <a:spcBef>
                <a:spcPts val="300"/>
              </a:spcBef>
            </a:pPr>
            <a:r>
              <a:rPr dirty="0" spc="-40" b="1">
                <a:latin typeface="Arial"/>
                <a:cs typeface="Arial"/>
              </a:rPr>
              <a:t>Performance:</a:t>
            </a:r>
            <a:r>
              <a:rPr dirty="0" spc="100" b="1">
                <a:latin typeface="Arial"/>
                <a:cs typeface="Arial"/>
              </a:rPr>
              <a:t> </a:t>
            </a:r>
            <a:r>
              <a:rPr dirty="0" spc="-20"/>
              <a:t>Function</a:t>
            </a:r>
            <a:r>
              <a:rPr dirty="0" spc="-30"/>
              <a:t> ‘quadprog‘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 spc="-25"/>
              <a:t>faster.</a:t>
            </a:r>
            <a:r>
              <a:rPr dirty="0" spc="70"/>
              <a:t> </a:t>
            </a:r>
            <a:r>
              <a:rPr dirty="0"/>
              <a:t>As</a:t>
            </a:r>
            <a:r>
              <a:rPr dirty="0" spc="-35"/>
              <a:t> </a:t>
            </a:r>
            <a:r>
              <a:rPr dirty="0" spc="-10"/>
              <a:t>the</a:t>
            </a:r>
            <a:r>
              <a:rPr dirty="0" spc="-35"/>
              <a:t> </a:t>
            </a:r>
            <a:r>
              <a:rPr dirty="0" spc="-50"/>
              <a:t>problem</a:t>
            </a:r>
            <a:r>
              <a:rPr dirty="0" spc="-30"/>
              <a:t> </a:t>
            </a:r>
            <a:r>
              <a:rPr dirty="0" spc="-20"/>
              <a:t>size </a:t>
            </a:r>
            <a:r>
              <a:rPr dirty="0" spc="-50"/>
              <a:t>increases,</a:t>
            </a:r>
            <a:r>
              <a:rPr dirty="0" spc="-40"/>
              <a:t> </a:t>
            </a:r>
            <a:r>
              <a:rPr dirty="0" spc="-10"/>
              <a:t>the</a:t>
            </a:r>
            <a:r>
              <a:rPr dirty="0" spc="-45"/>
              <a:t> </a:t>
            </a:r>
            <a:r>
              <a:rPr dirty="0" spc="-50"/>
              <a:t>performance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the</a:t>
            </a:r>
            <a:r>
              <a:rPr dirty="0" spc="-40"/>
              <a:t> interior-</a:t>
            </a:r>
            <a:r>
              <a:rPr dirty="0"/>
              <a:t>point</a:t>
            </a:r>
            <a:r>
              <a:rPr dirty="0" spc="-45"/>
              <a:t> </a:t>
            </a:r>
            <a:r>
              <a:rPr dirty="0" spc="-35"/>
              <a:t>method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 spc="-10"/>
              <a:t>becoming </a:t>
            </a:r>
            <a:r>
              <a:rPr dirty="0" spc="-20"/>
              <a:t>better</a:t>
            </a:r>
            <a:r>
              <a:rPr dirty="0" spc="-45"/>
              <a:t> </a:t>
            </a:r>
            <a:r>
              <a:rPr dirty="0" spc="-35"/>
              <a:t>and </a:t>
            </a:r>
            <a:r>
              <a:rPr dirty="0" spc="-20"/>
              <a:t>better,</a:t>
            </a:r>
            <a:r>
              <a:rPr dirty="0" spc="-35"/>
              <a:t> </a:t>
            </a:r>
            <a:r>
              <a:rPr dirty="0" spc="-60"/>
              <a:t>showing</a:t>
            </a:r>
            <a:r>
              <a:rPr dirty="0" spc="-25"/>
              <a:t> </a:t>
            </a:r>
            <a:r>
              <a:rPr dirty="0"/>
              <a:t>that</a:t>
            </a:r>
            <a:r>
              <a:rPr dirty="0" spc="-40"/>
              <a:t> </a:t>
            </a:r>
            <a:r>
              <a:rPr dirty="0" spc="-10"/>
              <a:t>the</a:t>
            </a:r>
            <a:r>
              <a:rPr dirty="0" spc="-35"/>
              <a:t> </a:t>
            </a:r>
            <a:r>
              <a:rPr dirty="0" spc="-40"/>
              <a:t>interior-</a:t>
            </a:r>
            <a:r>
              <a:rPr dirty="0"/>
              <a:t>point</a:t>
            </a:r>
            <a:r>
              <a:rPr dirty="0" spc="-35"/>
              <a:t> method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 spc="-25"/>
              <a:t>efficient </a:t>
            </a:r>
            <a:r>
              <a:rPr dirty="0" spc="-20"/>
              <a:t>for</a:t>
            </a:r>
            <a:r>
              <a:rPr dirty="0" spc="-40"/>
              <a:t> </a:t>
            </a:r>
            <a:r>
              <a:rPr dirty="0" spc="-55"/>
              <a:t>large-</a:t>
            </a:r>
            <a:r>
              <a:rPr dirty="0" spc="-40"/>
              <a:t>scale</a:t>
            </a:r>
            <a:r>
              <a:rPr dirty="0" spc="-35"/>
              <a:t> </a:t>
            </a:r>
            <a:r>
              <a:rPr dirty="0" spc="-10"/>
              <a:t>problems.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04187"/>
            <a:ext cx="65265" cy="65265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 spc="-10"/>
              <a:t>12</a:t>
            </a:r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780" y="1241322"/>
            <a:ext cx="1725930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b="1">
                <a:solidFill>
                  <a:srgbClr val="000000"/>
                </a:solidFill>
                <a:latin typeface="Arial"/>
                <a:cs typeface="Arial"/>
              </a:rPr>
              <a:t>Thank</a:t>
            </a:r>
            <a:r>
              <a:rPr dirty="0" sz="2450" spc="150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2450" spc="-25" b="1">
                <a:solidFill>
                  <a:srgbClr val="000000"/>
                </a:solidFill>
                <a:latin typeface="Arial"/>
                <a:cs typeface="Arial"/>
              </a:rPr>
              <a:t>You!</a:t>
            </a:r>
            <a:endParaRPr sz="24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pc="-10"/>
              <a:t>08023214</a:t>
            </a:r>
            <a:r>
              <a:rPr dirty="0" spc="20"/>
              <a:t> </a:t>
            </a:r>
            <a:r>
              <a:rPr dirty="0" spc="-10"/>
              <a:t>Zhangyunyixuan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787956" y="3351784"/>
            <a:ext cx="10318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Programming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Exercise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Report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December</a:t>
            </a:r>
            <a:r>
              <a:rPr dirty="0" spc="-20"/>
              <a:t> </a:t>
            </a:r>
            <a:r>
              <a:rPr dirty="0"/>
              <a:t>21,</a:t>
            </a:r>
            <a:r>
              <a:rPr dirty="0" spc="-15"/>
              <a:t> </a:t>
            </a:r>
            <a:r>
              <a:rPr dirty="0" spc="-20"/>
              <a:t>2025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 spc="-10"/>
              <a:t>13</a:t>
            </a:r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13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08023214 Zhangyunyixuan</dc:creator>
  <dc:title>Programming Exercise Report - Quadratic Programming with Interior Point Method</dc:title>
  <dcterms:created xsi:type="dcterms:W3CDTF">2025-12-21T08:33:41Z</dcterms:created>
  <dcterms:modified xsi:type="dcterms:W3CDTF">2025-12-21T08:33:41Z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2025-12-21T00:00:00Z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