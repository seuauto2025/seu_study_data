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7" r:id="rId12"/>
    <p:sldId id="266" r:id="rId13"/>
    <p:sldId id="269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嵌入式系统及课程设计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97810" y="2794635"/>
            <a:ext cx="663702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华文仿宋" panose="02010600040101010101" pitchFamily="2" charset="-122"/>
                <a:ea typeface="华文仿宋" panose="02010600040101010101" pitchFamily="2" charset="-122"/>
              </a:rPr>
              <a:t>实验一</a:t>
            </a:r>
            <a:r>
              <a:rPr lang="en-US" altLang="zh-CN" sz="48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</a:t>
            </a:r>
            <a:r>
              <a:rPr lang="zh-CN" altLang="en-US" sz="4800" dirty="0">
                <a:latin typeface="华文仿宋" panose="02010600040101010101" pitchFamily="2" charset="-122"/>
                <a:ea typeface="华文仿宋" panose="02010600040101010101" pitchFamily="2" charset="-122"/>
              </a:rPr>
              <a:t>字符控制设备</a:t>
            </a:r>
            <a:endParaRPr lang="en-US" altLang="zh-CN" sz="48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endParaRPr lang="en-US" altLang="zh-CN" sz="4800" dirty="0">
              <a:latin typeface="+mn-ea"/>
            </a:endParaRPr>
          </a:p>
          <a:p>
            <a:pPr algn="ctr"/>
            <a:r>
              <a:rPr lang="en-US" altLang="zh-CN" sz="3200">
                <a:latin typeface="+mn-ea"/>
              </a:rPr>
              <a:t>2025.02.23</a:t>
            </a:r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实验一  字符控制设备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1696" y="1092032"/>
            <a:ext cx="88205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+mn-ea"/>
              </a:rPr>
              <a:t>实验内容：</a:t>
            </a:r>
            <a:endParaRPr lang="en-US" altLang="zh-CN" sz="32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3200" dirty="0">
              <a:latin typeface="+mn-ea"/>
            </a:endParaRPr>
          </a:p>
          <a:p>
            <a:endParaRPr lang="en-US" altLang="zh-CN" sz="32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38" y="1785946"/>
            <a:ext cx="8676323" cy="49890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实验一  字符控制设备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4437" y="1700012"/>
            <a:ext cx="8820590" cy="4954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+mn-ea"/>
              </a:rPr>
              <a:t>本次实验你将学到：</a:t>
            </a:r>
            <a:endParaRPr lang="en-US" altLang="zh-CN" sz="32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+mn-ea"/>
              </a:rPr>
              <a:t>在开发板上运行你的第一个程序；</a:t>
            </a:r>
            <a:endParaRPr lang="en-US" altLang="zh-CN" sz="32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+mn-ea"/>
              </a:rPr>
              <a:t>控制板载器件</a:t>
            </a:r>
            <a:r>
              <a:rPr lang="en-US" altLang="zh-CN" sz="3200" dirty="0">
                <a:latin typeface="+mn-ea"/>
              </a:rPr>
              <a:t>.</a:t>
            </a:r>
            <a:endParaRPr lang="en-US" altLang="zh-CN" sz="3200" dirty="0">
              <a:latin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2400" dirty="0">
              <a:latin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+mn-ea"/>
              </a:rPr>
              <a:t>（注意：编写代码不是重点，重点是如何将写好的代码烧入开发板并成功运行）</a:t>
            </a:r>
            <a:endParaRPr lang="en-US" altLang="zh-CN" sz="2400" dirty="0">
              <a:latin typeface="+mn-ea"/>
            </a:endParaRPr>
          </a:p>
          <a:p>
            <a:endParaRPr lang="en-US" altLang="zh-CN" sz="32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实验一  字符控制设备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4437" y="1348800"/>
            <a:ext cx="7170312" cy="6062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PART1. </a:t>
            </a:r>
            <a:r>
              <a:rPr lang="zh-CN" altLang="en-US" sz="2400" b="1" dirty="0">
                <a:latin typeface="+mn-ea"/>
              </a:rPr>
              <a:t>在开发板上实现你的第一个</a:t>
            </a:r>
            <a:r>
              <a:rPr lang="en-US" altLang="zh-CN" sz="2400" b="1" dirty="0">
                <a:latin typeface="+mn-ea"/>
              </a:rPr>
              <a:t>HelloWorld</a:t>
            </a:r>
            <a:r>
              <a:rPr lang="zh-CN" altLang="en-US" sz="2400" b="1" dirty="0">
                <a:latin typeface="+mn-ea"/>
              </a:rPr>
              <a:t>程序！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为此，你需要掌握：</a:t>
            </a:r>
            <a:endParaRPr lang="en-US" altLang="zh-CN" sz="24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交叉编译</a:t>
            </a:r>
            <a:endParaRPr lang="en-US" altLang="zh-CN" sz="24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利用某种通信方式（常用两种</a:t>
            </a:r>
            <a:r>
              <a:rPr lang="zh-CN" altLang="en-US" sz="2400" dirty="0">
                <a:latin typeface="+mn-ea"/>
              </a:rPr>
              <a:t>为挂载</a:t>
            </a:r>
            <a:r>
              <a:rPr lang="en-US" altLang="zh-CN" sz="2400" dirty="0">
                <a:latin typeface="+mn-ea"/>
              </a:rPr>
              <a:t>U</a:t>
            </a:r>
            <a:r>
              <a:rPr lang="zh-CN" altLang="en-US" sz="2400" dirty="0">
                <a:latin typeface="+mn-ea"/>
              </a:rPr>
              <a:t>盘、</a:t>
            </a:r>
            <a:r>
              <a:rPr lang="en-US" altLang="zh-CN" sz="2400" dirty="0">
                <a:latin typeface="+mn-ea"/>
              </a:rPr>
              <a:t>TFTP</a:t>
            </a:r>
            <a:r>
              <a:rPr lang="zh-CN" altLang="en-US" sz="2400" dirty="0">
                <a:latin typeface="+mn-ea"/>
              </a:rPr>
              <a:t>软件）将文件传入开发板</a:t>
            </a:r>
            <a:endParaRPr lang="en-US" altLang="zh-CN" sz="24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回忆与思考</a:t>
            </a:r>
            <a:r>
              <a:rPr lang="zh-CN" altLang="en-US" sz="2400" dirty="0">
                <a:latin typeface="+mn-ea"/>
              </a:rPr>
              <a:t>：配置了哪种交叉编译器？为什么要将物理机（上位机）与开发板配置到同一网段？</a:t>
            </a:r>
            <a:endParaRPr lang="en-US" altLang="zh-CN" sz="2400" dirty="0">
              <a:latin typeface="+mn-ea"/>
            </a:endParaRPr>
          </a:p>
          <a:p>
            <a:endParaRPr lang="en-US" altLang="zh-CN" sz="32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实验一  字符控制设备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9738" y="1493033"/>
            <a:ext cx="5792273" cy="2806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Step1. </a:t>
            </a:r>
            <a:r>
              <a:rPr lang="zh-CN" altLang="en-US" sz="2400" b="1" dirty="0">
                <a:latin typeface="+mn-ea"/>
              </a:rPr>
              <a:t>打开</a:t>
            </a:r>
            <a:r>
              <a:rPr lang="en-US" altLang="zh-CN" sz="2400" b="1" dirty="0">
                <a:latin typeface="+mn-ea"/>
              </a:rPr>
              <a:t>PC</a:t>
            </a:r>
            <a:r>
              <a:rPr lang="zh-CN" altLang="en-US" sz="2400" b="1" dirty="0">
                <a:latin typeface="+mn-ea"/>
              </a:rPr>
              <a:t>与</a:t>
            </a:r>
            <a:r>
              <a:rPr lang="en-US" altLang="zh-CN" sz="2400" b="1" dirty="0">
                <a:latin typeface="+mn-ea"/>
              </a:rPr>
              <a:t>VM</a:t>
            </a:r>
            <a:r>
              <a:rPr lang="zh-CN" altLang="en-US" sz="2400" b="1" dirty="0">
                <a:latin typeface="+mn-ea"/>
              </a:rPr>
              <a:t>之间的共享文件夹</a:t>
            </a:r>
            <a:r>
              <a:rPr lang="en-US" altLang="zh-CN" sz="2400" b="1" baseline="-25000" dirty="0">
                <a:latin typeface="+mn-ea"/>
              </a:rPr>
              <a:t>[*]</a:t>
            </a:r>
            <a:r>
              <a:rPr lang="zh-CN" altLang="en-US" sz="2400" b="1" dirty="0">
                <a:latin typeface="+mn-ea"/>
              </a:rPr>
              <a:t>，将写好的“</a:t>
            </a:r>
            <a:r>
              <a:rPr lang="en-US" altLang="zh-CN" sz="2400" b="1" dirty="0" err="1">
                <a:latin typeface="+mn-ea"/>
              </a:rPr>
              <a:t>HelloWorld.c</a:t>
            </a:r>
            <a:r>
              <a:rPr lang="zh-CN" altLang="en-US" sz="2400" b="1" dirty="0">
                <a:latin typeface="+mn-ea"/>
              </a:rPr>
              <a:t>”文件复制进去。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Step2. </a:t>
            </a:r>
            <a:r>
              <a:rPr lang="zh-CN" altLang="en-US" sz="2400" b="1" dirty="0">
                <a:latin typeface="+mn-ea"/>
              </a:rPr>
              <a:t>在</a:t>
            </a:r>
            <a:r>
              <a:rPr lang="en-US" altLang="zh-CN" sz="2400" b="1" dirty="0">
                <a:latin typeface="+mn-ea"/>
              </a:rPr>
              <a:t>VM</a:t>
            </a:r>
            <a:r>
              <a:rPr lang="zh-CN" altLang="en-US" sz="2400" b="1" dirty="0">
                <a:latin typeface="+mn-ea"/>
              </a:rPr>
              <a:t>的终端打开共享文件夹。使用</a:t>
            </a:r>
            <a:r>
              <a:rPr lang="en-US" altLang="zh-CN" sz="2400" b="1" dirty="0">
                <a:latin typeface="+mn-ea"/>
              </a:rPr>
              <a:t>ls</a:t>
            </a:r>
            <a:r>
              <a:rPr lang="zh-CN" altLang="en-US" sz="2400" b="1" dirty="0">
                <a:latin typeface="+mn-ea"/>
              </a:rPr>
              <a:t>命令，你是否看到</a:t>
            </a:r>
            <a:r>
              <a:rPr lang="en-US" altLang="zh-CN" sz="2400" b="1" dirty="0">
                <a:latin typeface="+mn-ea"/>
              </a:rPr>
              <a:t>“</a:t>
            </a:r>
            <a:r>
              <a:rPr lang="en-US" altLang="zh-CN" sz="2400" b="1" dirty="0" err="1">
                <a:latin typeface="+mn-ea"/>
              </a:rPr>
              <a:t>HelloWorld.c</a:t>
            </a:r>
            <a:r>
              <a:rPr lang="en-US" altLang="zh-CN" sz="2400" b="1" dirty="0">
                <a:latin typeface="+mn-ea"/>
              </a:rPr>
              <a:t>”</a:t>
            </a:r>
            <a:r>
              <a:rPr lang="zh-CN" altLang="en-US" sz="2400" b="1" dirty="0">
                <a:latin typeface="+mn-ea"/>
              </a:rPr>
              <a:t>？</a:t>
            </a:r>
            <a:endParaRPr lang="en-US" altLang="zh-CN" sz="3200" b="1" dirty="0">
              <a:latin typeface="+mn-ea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936" y="1597724"/>
            <a:ext cx="5028127" cy="377266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481008" y="5603364"/>
            <a:ext cx="6098146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Font typeface="+mj-lt"/>
              <a:buNone/>
            </a:pPr>
            <a:r>
              <a:rPr lang="zh-CN" altLang="en-US" sz="1600" dirty="0"/>
              <a:t>注意：</a:t>
            </a:r>
            <a:endParaRPr lang="en-US" altLang="zh-CN" sz="16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/>
              <a:t>PC</a:t>
            </a:r>
            <a:r>
              <a:rPr lang="zh-CN" altLang="en-US" sz="1600" dirty="0"/>
              <a:t>：你的物理机</a:t>
            </a:r>
            <a:r>
              <a:rPr lang="en-US" altLang="zh-CN" sz="1600" dirty="0"/>
              <a:t>(windows)</a:t>
            </a:r>
            <a:r>
              <a:rPr lang="zh-CN" altLang="en-US" sz="1600" dirty="0"/>
              <a:t>；</a:t>
            </a:r>
            <a:r>
              <a:rPr lang="en-US" altLang="zh-CN" sz="1600" dirty="0"/>
              <a:t>VM</a:t>
            </a:r>
            <a:r>
              <a:rPr lang="zh-CN" altLang="en-US" sz="1600" dirty="0"/>
              <a:t>：虚拟机</a:t>
            </a:r>
            <a:endParaRPr lang="en-US" altLang="zh-CN" sz="16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/>
              <a:t>共享文件夹的创建方式详见上一课件</a:t>
            </a:r>
            <a:endParaRPr lang="zh-CN" altLang="en-US" sz="1600" dirty="0"/>
          </a:p>
        </p:txBody>
      </p:sp>
      <p:cxnSp>
        <p:nvCxnSpPr>
          <p:cNvPr id="24" name="直接连接符 23"/>
          <p:cNvCxnSpPr/>
          <p:nvPr/>
        </p:nvCxnSpPr>
        <p:spPr>
          <a:xfrm>
            <a:off x="0" y="5701244"/>
            <a:ext cx="85129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实验一  字符控制设备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1742" y="1341036"/>
            <a:ext cx="5792273" cy="294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Step3. </a:t>
            </a:r>
            <a:r>
              <a:rPr lang="zh-CN" altLang="en-US" sz="2400" b="1" dirty="0">
                <a:latin typeface="+mn-ea"/>
              </a:rPr>
              <a:t>输入指令：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Sitka Small" panose="02000505000000020004" pitchFamily="2" charset="0"/>
              </a:rPr>
              <a:t>arm-</a:t>
            </a:r>
            <a:r>
              <a:rPr lang="en-US" altLang="zh-CN" dirty="0" err="1">
                <a:latin typeface="Sitka Small" panose="02000505000000020004" pitchFamily="2" charset="0"/>
              </a:rPr>
              <a:t>linux</a:t>
            </a:r>
            <a:r>
              <a:rPr lang="en-US" altLang="zh-CN" dirty="0">
                <a:latin typeface="Sitka Small" panose="02000505000000020004" pitchFamily="2" charset="0"/>
              </a:rPr>
              <a:t>-</a:t>
            </a:r>
            <a:r>
              <a:rPr lang="en-US" altLang="zh-CN" dirty="0" err="1">
                <a:latin typeface="Sitka Small" panose="02000505000000020004" pitchFamily="2" charset="0"/>
              </a:rPr>
              <a:t>gcc</a:t>
            </a:r>
            <a:r>
              <a:rPr lang="en-US" altLang="zh-CN" dirty="0">
                <a:latin typeface="Sitka Small" panose="02000505000000020004" pitchFamily="2" charset="0"/>
              </a:rPr>
              <a:t> -o HelloWorld </a:t>
            </a:r>
            <a:r>
              <a:rPr lang="en-US" altLang="zh-CN" dirty="0" err="1">
                <a:latin typeface="Sitka Small" panose="02000505000000020004" pitchFamily="2" charset="0"/>
              </a:rPr>
              <a:t>HelloWorld.c</a:t>
            </a:r>
            <a:endParaRPr lang="en-US" altLang="zh-CN" dirty="0">
              <a:latin typeface="Sitka Small" panose="02000505000000020004" pitchFamily="2" charset="0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tka Small" panose="02000505000000020004" pitchFamily="2" charset="0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tka Small" panose="02000505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Step4. </a:t>
            </a:r>
            <a:r>
              <a:rPr lang="zh-CN" altLang="en-US" sz="2400" b="1" dirty="0">
                <a:latin typeface="+mn-ea"/>
              </a:rPr>
              <a:t>再次使用</a:t>
            </a:r>
            <a:r>
              <a:rPr lang="en-US" altLang="zh-CN" sz="2400" b="1" dirty="0">
                <a:latin typeface="+mn-ea"/>
              </a:rPr>
              <a:t>ls</a:t>
            </a:r>
            <a:r>
              <a:rPr lang="zh-CN" altLang="en-US" sz="2400" b="1" dirty="0">
                <a:latin typeface="+mn-ea"/>
              </a:rPr>
              <a:t>命令，你是否看到</a:t>
            </a:r>
            <a:r>
              <a:rPr lang="en-US" altLang="zh-CN" sz="2400" b="1" dirty="0">
                <a:latin typeface="+mn-ea"/>
              </a:rPr>
              <a:t>“HelloWorld”</a:t>
            </a:r>
            <a:r>
              <a:rPr lang="zh-CN" altLang="en-US" sz="2400" b="1" dirty="0">
                <a:latin typeface="+mn-ea"/>
              </a:rPr>
              <a:t>？</a:t>
            </a:r>
            <a:endParaRPr lang="en-US" altLang="zh-CN" sz="3200" b="1" dirty="0">
              <a:latin typeface="+mn-ea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5821894"/>
            <a:ext cx="85129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23221" y="5950040"/>
            <a:ext cx="5428080" cy="793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/>
              <a:t>【*】</a:t>
            </a:r>
            <a:r>
              <a:rPr lang="zh-CN" altLang="en-US" sz="1600" dirty="0"/>
              <a:t>：有关</a:t>
            </a:r>
            <a:r>
              <a:rPr lang="en-US" altLang="zh-CN" sz="1600" dirty="0"/>
              <a:t>ls</a:t>
            </a:r>
            <a:r>
              <a:rPr lang="zh-CN" altLang="en-US" sz="1600" dirty="0"/>
              <a:t>命令，请参考</a:t>
            </a:r>
            <a:r>
              <a:rPr lang="en-US" altLang="zh-CN" sz="1600" dirty="0"/>
              <a:t>Linux</a:t>
            </a:r>
            <a:r>
              <a:rPr lang="zh-CN" altLang="en-US" sz="1600" dirty="0"/>
              <a:t>终端操作常见指令</a:t>
            </a:r>
            <a:r>
              <a:rPr lang="en-US" altLang="zh-CN" sz="1600" dirty="0"/>
              <a:t>.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            </a:t>
            </a:r>
            <a:r>
              <a:rPr lang="zh-CN" altLang="en-US" sz="1600" dirty="0"/>
              <a:t>掌握常见中断指令会让你的调试过程更加高效。</a:t>
            </a:r>
            <a:endParaRPr lang="zh-CN" alt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741" y="1341036"/>
            <a:ext cx="5072517" cy="3785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实验一  字符控制设备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69890" y="1840255"/>
            <a:ext cx="5281411" cy="2898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Congratulations!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你已经完成了第一次交叉编译的过程</a:t>
            </a:r>
            <a:r>
              <a:rPr lang="en-US" altLang="zh-CN" sz="2400" b="1" dirty="0">
                <a:latin typeface="+mn-ea"/>
              </a:rPr>
              <a:t>.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28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交叉编译：在一个平台上生成另一个平台上的可执行代码。</a:t>
            </a:r>
            <a:endParaRPr lang="en-US" altLang="zh-CN" sz="2400" dirty="0">
              <a:latin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40701" y="1877468"/>
            <a:ext cx="4950853" cy="36933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Tips</a:t>
            </a:r>
            <a:r>
              <a:rPr lang="zh-CN" altLang="en-US" sz="2400" b="1" dirty="0"/>
              <a:t>：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70C0"/>
                </a:solidFill>
              </a:rPr>
              <a:t>arm-</a:t>
            </a:r>
            <a:r>
              <a:rPr lang="en-US" altLang="zh-CN" sz="2000" dirty="0" err="1">
                <a:solidFill>
                  <a:srgbClr val="0070C0"/>
                </a:solidFill>
              </a:rPr>
              <a:t>linux</a:t>
            </a:r>
            <a:r>
              <a:rPr lang="en-US" altLang="zh-CN" sz="2000" dirty="0">
                <a:solidFill>
                  <a:srgbClr val="0070C0"/>
                </a:solidFill>
              </a:rPr>
              <a:t>-</a:t>
            </a:r>
            <a:r>
              <a:rPr lang="en-US" altLang="zh-CN" sz="2000" dirty="0" err="1">
                <a:solidFill>
                  <a:srgbClr val="0070C0"/>
                </a:solidFill>
              </a:rPr>
              <a:t>gcc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-o</a:t>
            </a:r>
            <a:r>
              <a:rPr lang="en-US" altLang="zh-CN" sz="2000" dirty="0"/>
              <a:t> HelloWorld </a:t>
            </a:r>
            <a:r>
              <a:rPr lang="en-US" altLang="zh-CN" sz="2000" dirty="0" err="1">
                <a:solidFill>
                  <a:srgbClr val="FFC000"/>
                </a:solidFill>
              </a:rPr>
              <a:t>HelloWorld.c</a:t>
            </a:r>
            <a:endParaRPr lang="en-US" altLang="zh-CN" sz="2000" dirty="0">
              <a:solidFill>
                <a:srgbClr val="FFC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FFC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70C0"/>
                </a:solidFill>
              </a:rPr>
              <a:t>arm-</a:t>
            </a:r>
            <a:r>
              <a:rPr lang="en-US" altLang="zh-CN" sz="2000" dirty="0" err="1">
                <a:solidFill>
                  <a:srgbClr val="0070C0"/>
                </a:solidFill>
              </a:rPr>
              <a:t>linux</a:t>
            </a:r>
            <a:r>
              <a:rPr lang="en-US" altLang="zh-CN" sz="2000" dirty="0">
                <a:solidFill>
                  <a:srgbClr val="0070C0"/>
                </a:solidFill>
              </a:rPr>
              <a:t>-</a:t>
            </a:r>
            <a:r>
              <a:rPr lang="en-US" altLang="zh-CN" sz="2000" dirty="0" err="1">
                <a:solidFill>
                  <a:srgbClr val="0070C0"/>
                </a:solidFill>
              </a:rPr>
              <a:t>gcc</a:t>
            </a:r>
            <a:r>
              <a:rPr lang="zh-CN" altLang="en-US" sz="2000" dirty="0">
                <a:solidFill>
                  <a:srgbClr val="0070C0"/>
                </a:solidFill>
              </a:rPr>
              <a:t>：调用的交叉编译器名称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-o</a:t>
            </a:r>
            <a:r>
              <a:rPr lang="zh-CN" altLang="en-US" sz="2000" dirty="0">
                <a:solidFill>
                  <a:srgbClr val="FF0000"/>
                </a:solidFill>
              </a:rPr>
              <a:t>：操作提示符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/>
              <a:t>HelloWorld</a:t>
            </a:r>
            <a:r>
              <a:rPr lang="zh-CN" altLang="en-US" sz="2000" dirty="0"/>
              <a:t>：生成的可执行程序文件名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FFC000"/>
                </a:solidFill>
              </a:rPr>
              <a:t>HelloWorld.c</a:t>
            </a:r>
            <a:r>
              <a:rPr lang="zh-CN" altLang="en-US" sz="2000" dirty="0">
                <a:solidFill>
                  <a:srgbClr val="FFC000"/>
                </a:solidFill>
              </a:rPr>
              <a:t>：编译对象</a:t>
            </a:r>
            <a:endParaRPr lang="en-US" altLang="zh-CN" sz="2000" dirty="0">
              <a:solidFill>
                <a:srgbClr val="FFC000"/>
              </a:solidFill>
            </a:endParaRPr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实验一  字符控制设备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4437" y="1348800"/>
            <a:ext cx="88205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2400" dirty="0">
              <a:latin typeface="+mn-ea"/>
            </a:endParaRPr>
          </a:p>
          <a:p>
            <a:endParaRPr lang="en-US" altLang="zh-CN" sz="32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文本框 11"/>
          <p:cNvSpPr txBox="1"/>
          <p:nvPr/>
        </p:nvSpPr>
        <p:spPr>
          <a:xfrm>
            <a:off x="724436" y="1746174"/>
            <a:ext cx="5998335" cy="3360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Step5. </a:t>
            </a:r>
            <a:r>
              <a:rPr lang="zh-CN" altLang="en-US" sz="2400" b="1" dirty="0">
                <a:latin typeface="+mn-ea"/>
              </a:rPr>
              <a:t>将生成的文件传输到开发板中。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思考：</a:t>
            </a:r>
            <a:r>
              <a:rPr lang="zh-CN" altLang="en-US" sz="2400" dirty="0">
                <a:latin typeface="+mn-ea"/>
              </a:rPr>
              <a:t>采用何种方式进行文件传输？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提示：</a:t>
            </a:r>
            <a:r>
              <a:rPr lang="zh-CN" altLang="en-US" sz="2400" dirty="0">
                <a:latin typeface="+mn-ea"/>
              </a:rPr>
              <a:t>可从以下角度考虑：</a:t>
            </a:r>
            <a:endParaRPr lang="en-US" altLang="zh-CN" sz="24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ea"/>
              </a:rPr>
              <a:t>USB</a:t>
            </a:r>
            <a:endParaRPr lang="en-US" altLang="zh-CN" sz="24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你已将</a:t>
            </a:r>
            <a:r>
              <a:rPr lang="en-US" altLang="zh-CN" sz="2400" dirty="0">
                <a:latin typeface="+mn-ea"/>
              </a:rPr>
              <a:t>PC</a:t>
            </a:r>
            <a:r>
              <a:rPr lang="zh-CN" altLang="en-US" sz="2400" dirty="0">
                <a:latin typeface="+mn-ea"/>
              </a:rPr>
              <a:t>与开发板配置到同一网段下！</a:t>
            </a:r>
            <a:endParaRPr lang="en-US" altLang="zh-CN" sz="24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实验一  字符控制设备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69890" y="1840255"/>
            <a:ext cx="5281411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传输</a:t>
            </a:r>
            <a:r>
              <a:rPr lang="zh-CN" altLang="en-US" sz="2400" b="1" dirty="0">
                <a:latin typeface="+mn-ea"/>
              </a:rPr>
              <a:t>方法一：</a:t>
            </a:r>
            <a:r>
              <a:rPr lang="en-US" altLang="zh-CN" sz="2400" b="1" dirty="0">
                <a:latin typeface="+mn-ea"/>
              </a:rPr>
              <a:t>U</a:t>
            </a:r>
            <a:r>
              <a:rPr lang="zh-CN" altLang="en-US" sz="2400" b="1" dirty="0">
                <a:latin typeface="+mn-ea"/>
              </a:rPr>
              <a:t>盘挂载</a:t>
            </a:r>
            <a:endParaRPr lang="en-US" altLang="zh-CN" sz="2400" b="1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+mn-ea"/>
              </a:rPr>
              <a:t>准备一个</a:t>
            </a:r>
            <a:r>
              <a:rPr lang="en-US" altLang="zh-CN" sz="2400" b="1" dirty="0">
                <a:latin typeface="+mn-ea"/>
              </a:rPr>
              <a:t>FAT32</a:t>
            </a:r>
            <a:r>
              <a:rPr lang="zh-CN" altLang="en-US" sz="2400" b="1" dirty="0">
                <a:latin typeface="+mn-ea"/>
              </a:rPr>
              <a:t>格式的</a:t>
            </a:r>
            <a:r>
              <a:rPr lang="en-US" altLang="zh-CN" sz="2400" b="1" dirty="0">
                <a:latin typeface="+mn-ea"/>
              </a:rPr>
              <a:t>U</a:t>
            </a:r>
            <a:r>
              <a:rPr lang="zh-CN" altLang="en-US" sz="2400" b="1" dirty="0">
                <a:latin typeface="+mn-ea"/>
              </a:rPr>
              <a:t>盘</a:t>
            </a:r>
            <a:endParaRPr lang="zh-CN" altLang="en-US" sz="2400" b="1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+mn-ea"/>
              </a:rPr>
              <a:t>将编译好的程序复制到</a:t>
            </a:r>
            <a:r>
              <a:rPr lang="en-US" altLang="zh-CN" sz="2400" b="1" dirty="0">
                <a:latin typeface="+mn-ea"/>
              </a:rPr>
              <a:t>U</a:t>
            </a:r>
            <a:r>
              <a:rPr lang="zh-CN" altLang="en-US" sz="2400" b="1" dirty="0">
                <a:latin typeface="+mn-ea"/>
              </a:rPr>
              <a:t>盘</a:t>
            </a:r>
            <a:endParaRPr lang="zh-CN" altLang="en-US" sz="2400" b="1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+mn-ea"/>
              </a:rPr>
              <a:t>电脑退出</a:t>
            </a:r>
            <a:r>
              <a:rPr lang="en-US" altLang="zh-CN" sz="2400" b="1" dirty="0">
                <a:latin typeface="+mn-ea"/>
              </a:rPr>
              <a:t>U</a:t>
            </a:r>
            <a:r>
              <a:rPr lang="zh-CN" altLang="en-US" sz="2400" b="1" dirty="0">
                <a:latin typeface="+mn-ea"/>
              </a:rPr>
              <a:t>盘，将</a:t>
            </a:r>
            <a:r>
              <a:rPr lang="en-US" altLang="zh-CN" sz="2400" b="1" dirty="0">
                <a:latin typeface="+mn-ea"/>
              </a:rPr>
              <a:t>U</a:t>
            </a:r>
            <a:r>
              <a:rPr lang="zh-CN" altLang="en-US" sz="2400" b="1" dirty="0">
                <a:latin typeface="+mn-ea"/>
              </a:rPr>
              <a:t>盘插入开发板</a:t>
            </a:r>
            <a:endParaRPr lang="zh-CN" altLang="en-US" sz="2400" b="1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+mn-ea"/>
              </a:rPr>
              <a:t>挂载</a:t>
            </a:r>
            <a:r>
              <a:rPr lang="en-US" altLang="zh-CN" sz="2400" b="1" dirty="0">
                <a:latin typeface="+mn-ea"/>
              </a:rPr>
              <a:t>U</a:t>
            </a:r>
            <a:r>
              <a:rPr lang="zh-CN" altLang="en-US" sz="2400" b="1" dirty="0">
                <a:latin typeface="+mn-ea"/>
              </a:rPr>
              <a:t>盘，进入</a:t>
            </a:r>
            <a:r>
              <a:rPr lang="en-US" altLang="zh-CN" sz="2400" b="1" dirty="0">
                <a:latin typeface="+mn-ea"/>
              </a:rPr>
              <a:t>U</a:t>
            </a:r>
            <a:r>
              <a:rPr lang="zh-CN" altLang="en-US" sz="2400" b="1" dirty="0">
                <a:latin typeface="+mn-ea"/>
              </a:rPr>
              <a:t>盘目录执行程序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40701" y="1877468"/>
            <a:ext cx="5082860" cy="33675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Tips</a:t>
            </a:r>
            <a:r>
              <a:rPr lang="en-US" altLang="zh-CN" sz="2400" b="1" baseline="-25000" dirty="0"/>
              <a:t>[*]</a:t>
            </a:r>
            <a:r>
              <a:rPr lang="zh-CN" altLang="en-US" sz="2400" b="1" dirty="0"/>
              <a:t>：挂载外设</a:t>
            </a:r>
            <a:r>
              <a:rPr lang="en-US" altLang="zh-CN" sz="2400" b="1" dirty="0"/>
              <a:t>USB</a:t>
            </a:r>
            <a:r>
              <a:rPr lang="zh-CN" altLang="en-US" sz="2400" b="1" dirty="0"/>
              <a:t>指令</a:t>
            </a:r>
            <a:endParaRPr lang="en-US" altLang="zh-CN" sz="24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在</a:t>
            </a:r>
            <a:r>
              <a:rPr lang="en-US" altLang="zh-CN" sz="2000" dirty="0" err="1"/>
              <a:t>mnt</a:t>
            </a:r>
            <a:r>
              <a:rPr lang="zh-CN" altLang="en-US" sz="2000" dirty="0"/>
              <a:t>目录下新建</a:t>
            </a:r>
            <a:r>
              <a:rPr lang="en-US" altLang="zh-CN" sz="2000" dirty="0" err="1"/>
              <a:t>usb</a:t>
            </a:r>
            <a:r>
              <a:rPr lang="zh-CN" altLang="en-US" sz="2000" dirty="0"/>
              <a:t>目录</a:t>
            </a:r>
            <a:r>
              <a:rPr lang="en-US" altLang="zh-CN" sz="2000" dirty="0"/>
              <a:t>: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输入命令  </a:t>
            </a:r>
            <a:r>
              <a:rPr lang="en-US" altLang="zh-CN" sz="2000" dirty="0" err="1">
                <a:latin typeface="Sitka Small" panose="02000505000000020004" pitchFamily="2" charset="0"/>
              </a:rPr>
              <a:t>mkdir</a:t>
            </a:r>
            <a:r>
              <a:rPr lang="en-US" altLang="zh-CN" sz="2000" dirty="0">
                <a:latin typeface="Sitka Small" panose="02000505000000020004" pitchFamily="2" charset="0"/>
              </a:rPr>
              <a:t>/</a:t>
            </a:r>
            <a:r>
              <a:rPr lang="en-US" altLang="zh-CN" sz="2000" dirty="0" err="1">
                <a:latin typeface="Sitka Small" panose="02000505000000020004" pitchFamily="2" charset="0"/>
              </a:rPr>
              <a:t>mnt</a:t>
            </a:r>
            <a:r>
              <a:rPr lang="en-US" altLang="zh-CN" sz="2000" dirty="0">
                <a:latin typeface="Sitka Small" panose="02000505000000020004" pitchFamily="2" charset="0"/>
              </a:rPr>
              <a:t>/</a:t>
            </a:r>
            <a:r>
              <a:rPr lang="en-US" altLang="zh-CN" sz="2000" dirty="0" err="1">
                <a:latin typeface="Sitka Small" panose="02000505000000020004" pitchFamily="2" charset="0"/>
              </a:rPr>
              <a:t>usb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挂载</a:t>
            </a:r>
            <a:r>
              <a:rPr lang="en-US" altLang="zh-CN" sz="2000" dirty="0"/>
              <a:t>U</a:t>
            </a:r>
            <a:r>
              <a:rPr lang="zh-CN" altLang="en-US" sz="2000" dirty="0"/>
              <a:t>盘</a:t>
            </a:r>
            <a:r>
              <a:rPr lang="en-US" altLang="zh-CN" sz="2000" dirty="0"/>
              <a:t>:</a:t>
            </a:r>
            <a:r>
              <a:rPr lang="zh-CN" altLang="en-US" sz="2000" dirty="0"/>
              <a:t>输入命令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      </a:t>
            </a:r>
            <a:r>
              <a:rPr lang="en-US" altLang="zh-CN" sz="2000" dirty="0">
                <a:latin typeface="Sitka Small" panose="02000505000000020004" pitchFamily="2" charset="0"/>
              </a:rPr>
              <a:t>mount -t vat /dev/</a:t>
            </a:r>
            <a:r>
              <a:rPr lang="en-US" altLang="zh-CN" sz="2000" dirty="0" err="1">
                <a:latin typeface="Sitka Small" panose="02000505000000020004" pitchFamily="2" charset="0"/>
              </a:rPr>
              <a:t>udisk</a:t>
            </a:r>
            <a:r>
              <a:rPr lang="en-US" altLang="zh-CN" sz="2000" dirty="0">
                <a:latin typeface="Sitka Small" panose="02000505000000020004" pitchFamily="2" charset="0"/>
              </a:rPr>
              <a:t>  /</a:t>
            </a:r>
            <a:r>
              <a:rPr lang="en-US" altLang="zh-CN" sz="2000" dirty="0" err="1">
                <a:latin typeface="Sitka Small" panose="02000505000000020004" pitchFamily="2" charset="0"/>
              </a:rPr>
              <a:t>mnt</a:t>
            </a:r>
            <a:r>
              <a:rPr lang="en-US" altLang="zh-CN" sz="2000" dirty="0">
                <a:latin typeface="Sitka Small" panose="02000505000000020004" pitchFamily="2" charset="0"/>
              </a:rPr>
              <a:t>/</a:t>
            </a:r>
            <a:r>
              <a:rPr lang="en-US" altLang="zh-CN" sz="2000" dirty="0" err="1">
                <a:latin typeface="Sitka Small" panose="02000505000000020004" pitchFamily="2" charset="0"/>
              </a:rPr>
              <a:t>usb</a:t>
            </a:r>
            <a:endParaRPr lang="en-US" altLang="zh-CN" sz="2000" dirty="0">
              <a:latin typeface="Sitka Small" panose="02000505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进入</a:t>
            </a:r>
            <a:r>
              <a:rPr lang="en-US" altLang="zh-CN" sz="2000" dirty="0"/>
              <a:t>U</a:t>
            </a:r>
            <a:r>
              <a:rPr lang="zh-CN" altLang="en-US" sz="2000" dirty="0"/>
              <a:t>盘目录，输入命令</a:t>
            </a:r>
            <a:r>
              <a:rPr lang="en-US" altLang="zh-CN" sz="2000" dirty="0">
                <a:latin typeface="Sitka Small" panose="02000505000000020004" pitchFamily="2" charset="0"/>
              </a:rPr>
              <a:t>cd </a:t>
            </a:r>
            <a:r>
              <a:rPr lang="en-US" altLang="zh-CN" sz="2000" dirty="0" err="1">
                <a:latin typeface="Sitka Small" panose="02000505000000020004" pitchFamily="2" charset="0"/>
              </a:rPr>
              <a:t>mnt</a:t>
            </a:r>
            <a:r>
              <a:rPr lang="en-US" altLang="zh-CN" sz="2000" dirty="0">
                <a:latin typeface="Sitka Small" panose="02000505000000020004" pitchFamily="2" charset="0"/>
              </a:rPr>
              <a:t>/</a:t>
            </a:r>
            <a:r>
              <a:rPr lang="en-US" altLang="zh-CN" sz="2000" dirty="0" err="1">
                <a:latin typeface="Sitka Small" panose="02000505000000020004" pitchFamily="2" charset="0"/>
              </a:rPr>
              <a:t>usb</a:t>
            </a:r>
            <a:endParaRPr lang="en-US" altLang="zh-CN" sz="2000" dirty="0">
              <a:latin typeface="Sitka Small" panose="02000505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执行程序</a:t>
            </a:r>
            <a:r>
              <a:rPr lang="en-US" altLang="zh-CN" sz="2000" dirty="0"/>
              <a:t>:</a:t>
            </a:r>
            <a:r>
              <a:rPr lang="zh-CN" altLang="en-US" sz="2000" dirty="0"/>
              <a:t>输入命令</a:t>
            </a:r>
            <a:r>
              <a:rPr lang="en-US" altLang="zh-CN" sz="2000" dirty="0"/>
              <a:t> </a:t>
            </a:r>
            <a:r>
              <a:rPr lang="en-US" altLang="zh-CN" sz="2000" dirty="0">
                <a:latin typeface="Sitka Small" panose="02000505000000020004" pitchFamily="2" charset="0"/>
              </a:rPr>
              <a:t>/</a:t>
            </a:r>
            <a:r>
              <a:rPr lang="en-US" altLang="zh-CN" sz="2000" dirty="0" err="1">
                <a:latin typeface="Sitka Small" panose="02000505000000020004" pitchFamily="2" charset="0"/>
              </a:rPr>
              <a:t>Helloworld</a:t>
            </a:r>
            <a:endParaRPr lang="en-US" altLang="zh-CN" sz="2000" dirty="0">
              <a:latin typeface="Sitka Small" panose="02000505000000020004" pitchFamily="2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5821894"/>
            <a:ext cx="85129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69595" y="482663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  <a:sym typeface="+mn-ea"/>
              </a:rPr>
              <a:t>传输方法二：</a:t>
            </a:r>
            <a:r>
              <a:rPr lang="en-US" altLang="zh-CN" sz="2400" b="1" dirty="0">
                <a:latin typeface="+mn-ea"/>
                <a:sym typeface="+mn-ea"/>
              </a:rPr>
              <a:t>TFTP</a:t>
            </a:r>
            <a:r>
              <a:rPr lang="zh-CN" altLang="en-US" sz="2400" b="1" dirty="0">
                <a:latin typeface="+mn-ea"/>
                <a:sym typeface="+mn-ea"/>
              </a:rPr>
              <a:t>（详见实验参考</a:t>
            </a:r>
            <a:r>
              <a:rPr lang="zh-CN" altLang="en-US" sz="2400" b="1" dirty="0">
                <a:latin typeface="+mn-ea"/>
                <a:sym typeface="+mn-ea"/>
              </a:rPr>
              <a:t>文档）</a:t>
            </a:r>
            <a:endParaRPr lang="zh-CN" altLang="en-US" sz="2400" b="1" dirty="0">
              <a:latin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实验一  字符控制设备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4248" y="1645014"/>
            <a:ext cx="7170312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PART2. </a:t>
            </a:r>
            <a:r>
              <a:rPr lang="zh-CN" altLang="en-US" sz="2400" b="1" dirty="0">
                <a:latin typeface="+mn-ea"/>
              </a:rPr>
              <a:t>编写一个简单的字符设备驱动程序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要求如下：</a:t>
            </a:r>
            <a:endParaRPr lang="en-US" altLang="zh-CN" sz="24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采集总阻值为</a:t>
            </a:r>
            <a:r>
              <a:rPr lang="en-US" altLang="zh-CN" sz="2000" dirty="0">
                <a:latin typeface="+mn-ea"/>
              </a:rPr>
              <a:t>10K</a:t>
            </a:r>
            <a:r>
              <a:rPr lang="zh-CN" altLang="en-US" sz="2000" dirty="0">
                <a:latin typeface="+mn-ea"/>
              </a:rPr>
              <a:t>的滑动变阻器的电阻值并通过控制台显示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控制两个</a:t>
            </a:r>
            <a:r>
              <a:rPr lang="en-US" altLang="zh-CN" sz="2000" dirty="0">
                <a:latin typeface="+mn-ea"/>
              </a:rPr>
              <a:t>LED</a:t>
            </a:r>
            <a:r>
              <a:rPr lang="zh-CN" altLang="en-US" sz="2000" dirty="0">
                <a:latin typeface="+mn-ea"/>
              </a:rPr>
              <a:t>灯以</a:t>
            </a:r>
            <a:r>
              <a:rPr lang="en-US" altLang="zh-CN" sz="2000" dirty="0">
                <a:latin typeface="+mn-ea"/>
              </a:rPr>
              <a:t>1Hz</a:t>
            </a:r>
            <a:r>
              <a:rPr lang="zh-CN" altLang="en-US" sz="2000" dirty="0">
                <a:latin typeface="+mn-ea"/>
              </a:rPr>
              <a:t>频率交替点亮；常态下</a:t>
            </a:r>
            <a:r>
              <a:rPr lang="en-US" altLang="zh-CN" sz="2000" dirty="0">
                <a:latin typeface="+mn-ea"/>
              </a:rPr>
              <a:t>,LED</a:t>
            </a:r>
            <a:r>
              <a:rPr lang="zh-CN" altLang="en-US" sz="2000" dirty="0">
                <a:latin typeface="+mn-ea"/>
              </a:rPr>
              <a:t>闪烁频率与滑动变阻器阻值成</a:t>
            </a:r>
            <a:r>
              <a:rPr lang="zh-CN" altLang="en-US" sz="2000" b="1" dirty="0">
                <a:latin typeface="+mn-ea"/>
              </a:rPr>
              <a:t>反比</a:t>
            </a:r>
            <a:r>
              <a:rPr lang="zh-CN" altLang="en-US" sz="2000" dirty="0">
                <a:latin typeface="+mn-ea"/>
              </a:rPr>
              <a:t>。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若滑动变阻器阻值大于</a:t>
            </a:r>
            <a:r>
              <a:rPr lang="en-US" altLang="zh-CN" sz="2000" dirty="0">
                <a:latin typeface="+mn-ea"/>
              </a:rPr>
              <a:t>9K</a:t>
            </a:r>
            <a:r>
              <a:rPr lang="zh-CN" altLang="en-US" sz="2000" dirty="0">
                <a:latin typeface="+mn-ea"/>
              </a:rPr>
              <a:t>或低于</a:t>
            </a:r>
            <a:r>
              <a:rPr lang="en-US" altLang="zh-CN" sz="2000" dirty="0">
                <a:latin typeface="+mn-ea"/>
              </a:rPr>
              <a:t>1K</a:t>
            </a:r>
            <a:r>
              <a:rPr lang="zh-CN" altLang="en-US" sz="2000" dirty="0">
                <a:latin typeface="+mn-ea"/>
              </a:rPr>
              <a:t>视为超限，蜂鸣器以</a:t>
            </a:r>
            <a:r>
              <a:rPr lang="en-US" altLang="zh-CN" sz="2000" dirty="0">
                <a:latin typeface="+mn-ea"/>
              </a:rPr>
              <a:t>1Hz</a:t>
            </a:r>
            <a:r>
              <a:rPr lang="zh-CN" altLang="en-US" sz="2000" dirty="0">
                <a:latin typeface="+mn-ea"/>
              </a:rPr>
              <a:t>频率警报且</a:t>
            </a:r>
            <a:r>
              <a:rPr lang="en-US" altLang="zh-CN" sz="2000" dirty="0">
                <a:latin typeface="+mn-ea"/>
              </a:rPr>
              <a:t>LED</a:t>
            </a:r>
            <a:r>
              <a:rPr lang="zh-CN" altLang="en-US" sz="2000" dirty="0">
                <a:latin typeface="+mn-ea"/>
              </a:rPr>
              <a:t>暂停闪烁。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超限解除后恢复常态</a:t>
            </a:r>
            <a:r>
              <a:rPr lang="en-US" altLang="zh-CN" sz="2000" dirty="0">
                <a:latin typeface="+mn-ea"/>
              </a:rPr>
              <a:t>(</a:t>
            </a:r>
            <a:r>
              <a:rPr lang="zh-CN" altLang="en-US" sz="2000" dirty="0">
                <a:latin typeface="+mn-ea"/>
              </a:rPr>
              <a:t>蜂鸣器停止</a:t>
            </a:r>
            <a:r>
              <a:rPr lang="en-US" altLang="zh-CN" sz="2000" dirty="0">
                <a:latin typeface="+mn-ea"/>
              </a:rPr>
              <a:t>, LED</a:t>
            </a:r>
            <a:r>
              <a:rPr lang="zh-CN" altLang="en-US" sz="2000" dirty="0">
                <a:latin typeface="+mn-ea"/>
              </a:rPr>
              <a:t>灯以</a:t>
            </a:r>
            <a:r>
              <a:rPr lang="en-US" altLang="zh-CN" sz="2000" dirty="0">
                <a:latin typeface="+mn-ea"/>
              </a:rPr>
              <a:t>1Hz</a:t>
            </a:r>
            <a:r>
              <a:rPr lang="zh-CN" altLang="en-US" sz="2000" dirty="0">
                <a:latin typeface="+mn-ea"/>
              </a:rPr>
              <a:t>频率循环点亮</a:t>
            </a:r>
            <a:r>
              <a:rPr lang="en-US" altLang="zh-CN" sz="2000" dirty="0">
                <a:latin typeface="+mn-ea"/>
              </a:rPr>
              <a:t>)</a:t>
            </a:r>
            <a:endParaRPr lang="en-US" altLang="zh-CN" sz="20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741841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实验一  字符控制设备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4437" y="1348800"/>
            <a:ext cx="7170312" cy="1984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实验原理</a:t>
            </a:r>
            <a:endParaRPr lang="en-US" altLang="zh-CN" sz="24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1" dirty="0">
                <a:latin typeface="+mn-ea"/>
              </a:rPr>
              <a:t>采集滑动变阻器信号</a:t>
            </a:r>
            <a:endParaRPr lang="en-US" altLang="zh-CN" sz="20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开发板上面自带一个</a:t>
            </a:r>
            <a:r>
              <a:rPr lang="en-US" altLang="zh-CN" sz="2000" dirty="0">
                <a:latin typeface="+mn-ea"/>
              </a:rPr>
              <a:t>LED,</a:t>
            </a:r>
            <a:r>
              <a:rPr lang="zh-CN" altLang="en-US" sz="2000" dirty="0">
                <a:latin typeface="+mn-ea"/>
              </a:rPr>
              <a:t>一个</a:t>
            </a:r>
            <a:r>
              <a:rPr lang="en-US" altLang="zh-CN" sz="2000" dirty="0">
                <a:latin typeface="+mn-ea"/>
              </a:rPr>
              <a:t>12</a:t>
            </a:r>
            <a:r>
              <a:rPr lang="zh-CN" altLang="en-US" sz="2000" dirty="0">
                <a:latin typeface="+mn-ea"/>
              </a:rPr>
              <a:t>位的</a:t>
            </a:r>
            <a:r>
              <a:rPr lang="en-US" altLang="zh-CN" sz="2000" dirty="0">
                <a:latin typeface="+mn-ea"/>
              </a:rPr>
              <a:t>ADC</a:t>
            </a:r>
            <a:r>
              <a:rPr lang="zh-CN" altLang="en-US" sz="2000" dirty="0">
                <a:latin typeface="+mn-ea"/>
              </a:rPr>
              <a:t>和一个阻值为</a:t>
            </a:r>
            <a:r>
              <a:rPr lang="en-US" altLang="zh-CN" sz="2000" dirty="0">
                <a:latin typeface="+mn-ea"/>
              </a:rPr>
              <a:t>10K</a:t>
            </a:r>
            <a:r>
              <a:rPr lang="zh-CN" altLang="en-US" sz="2000" dirty="0">
                <a:latin typeface="+mn-ea"/>
              </a:rPr>
              <a:t>的滑动变阻器</a:t>
            </a:r>
            <a:endParaRPr lang="en-US" altLang="zh-CN" sz="2000" dirty="0">
              <a:latin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161" y="3429000"/>
            <a:ext cx="3649014" cy="258263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805" y="3429000"/>
            <a:ext cx="5591910" cy="3177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实验一  字符控制设备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4437" y="1348800"/>
            <a:ext cx="4221050" cy="244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实验原理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2.</a:t>
            </a:r>
            <a:r>
              <a:rPr lang="zh-CN" altLang="en-US" sz="2000" b="1" dirty="0">
                <a:latin typeface="+mn-ea"/>
              </a:rPr>
              <a:t>字符设备驱动程序</a:t>
            </a:r>
            <a:endParaRPr lang="en-US" altLang="zh-CN" sz="20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包括初始化字符设备、字符设备的</a:t>
            </a:r>
            <a:r>
              <a:rPr lang="en-US" altLang="zh-CN" sz="2000" dirty="0">
                <a:latin typeface="+mn-ea"/>
              </a:rPr>
              <a:t>1/0</a:t>
            </a:r>
            <a:r>
              <a:rPr lang="zh-CN" altLang="en-US" sz="2000" dirty="0">
                <a:latin typeface="+mn-ea"/>
              </a:rPr>
              <a:t>调用和中断服务程序</a:t>
            </a:r>
            <a:r>
              <a:rPr lang="en-US" altLang="zh-CN" sz="2000" dirty="0">
                <a:latin typeface="+mn-ea"/>
              </a:rPr>
              <a:t>,</a:t>
            </a:r>
            <a:r>
              <a:rPr lang="zh-CN" altLang="en-US" sz="2000" dirty="0">
                <a:latin typeface="+mn-ea"/>
              </a:rPr>
              <a:t>主要包含右侧几个函数</a:t>
            </a:r>
            <a:r>
              <a:rPr lang="en-US" altLang="zh-CN" sz="2000" dirty="0">
                <a:latin typeface="+mn-ea"/>
              </a:rPr>
              <a:t>:</a:t>
            </a:r>
            <a:endParaRPr lang="en-US" altLang="zh-CN" sz="2000" dirty="0">
              <a:latin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75796" y="1687132"/>
            <a:ext cx="4816699" cy="42004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open()</a:t>
            </a:r>
            <a:r>
              <a:rPr lang="zh-CN" altLang="en-US" sz="2000" dirty="0"/>
              <a:t>：打开字符设备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/>
              <a:t>memset</a:t>
            </a:r>
            <a:r>
              <a:rPr lang="en-US" altLang="zh-CN" sz="2000" dirty="0"/>
              <a:t>()</a:t>
            </a:r>
            <a:r>
              <a:rPr lang="zh-CN" altLang="en-US" sz="2000" dirty="0"/>
              <a:t>：填充内存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read()</a:t>
            </a:r>
            <a:r>
              <a:rPr lang="zh-CN" altLang="en-US" sz="2000" dirty="0"/>
              <a:t>：字符设备读取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write()</a:t>
            </a:r>
            <a:r>
              <a:rPr lang="zh-CN" altLang="en-US" sz="2000" dirty="0"/>
              <a:t>：字符设备写入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/>
              <a:t>atoi</a:t>
            </a:r>
            <a:r>
              <a:rPr lang="en-US" altLang="zh-CN" sz="2000" dirty="0"/>
              <a:t>()</a:t>
            </a:r>
            <a:r>
              <a:rPr lang="zh-CN" altLang="en-US" sz="2000" dirty="0"/>
              <a:t>：</a:t>
            </a:r>
            <a:r>
              <a:rPr lang="en-US" altLang="zh-CN" sz="2000" dirty="0"/>
              <a:t>ASCII</a:t>
            </a:r>
            <a:r>
              <a:rPr lang="zh-CN" altLang="en-US" sz="2000" dirty="0"/>
              <a:t>转</a:t>
            </a:r>
            <a:r>
              <a:rPr lang="en-US" altLang="zh-CN" sz="2000" dirty="0"/>
              <a:t>int</a:t>
            </a:r>
            <a:r>
              <a:rPr lang="zh-CN" altLang="en-US" sz="2000" dirty="0"/>
              <a:t>，字符串转整型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int </a:t>
            </a:r>
            <a:r>
              <a:rPr lang="en-US" altLang="zh-CN" sz="2000" dirty="0" err="1"/>
              <a:t>ioct</a:t>
            </a:r>
            <a:r>
              <a:rPr lang="en-US" altLang="zh-CN" sz="2000" dirty="0"/>
              <a:t>()</a:t>
            </a:r>
            <a:r>
              <a:rPr lang="zh-CN" altLang="en-US" sz="2000" dirty="0"/>
              <a:t>：字符设备</a:t>
            </a:r>
            <a:r>
              <a:rPr lang="en-US" altLang="zh-CN" sz="2000" dirty="0"/>
              <a:t>10</a:t>
            </a:r>
            <a:r>
              <a:rPr lang="zh-CN" altLang="en-US" sz="2000" dirty="0"/>
              <a:t>控制</a:t>
            </a:r>
            <a:r>
              <a:rPr lang="en-US" altLang="zh-CN" sz="2000" dirty="0"/>
              <a:t>,</a:t>
            </a:r>
            <a:r>
              <a:rPr lang="zh-CN" altLang="en-US" sz="2000" dirty="0"/>
              <a:t>返回</a:t>
            </a:r>
            <a:r>
              <a:rPr lang="en-US" altLang="zh-CN" sz="2000" dirty="0"/>
              <a:t>0</a:t>
            </a:r>
            <a:r>
              <a:rPr lang="zh-CN" altLang="en-US" sz="2000" dirty="0"/>
              <a:t>表示成功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sleep(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)</a:t>
            </a:r>
            <a:r>
              <a:rPr lang="zh-CN" altLang="en-US" sz="2000" dirty="0"/>
              <a:t>：线程休眠等待</a:t>
            </a:r>
            <a:r>
              <a:rPr lang="en-US" altLang="zh-CN" sz="2000" dirty="0" err="1"/>
              <a:t>i</a:t>
            </a:r>
            <a:r>
              <a:rPr lang="zh-CN" altLang="en-US" sz="2000" dirty="0"/>
              <a:t>秒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/>
              <a:t>usleep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)</a:t>
            </a:r>
            <a:r>
              <a:rPr lang="zh-CN" altLang="en-US" sz="2000" dirty="0"/>
              <a:t>：线程休眠等待</a:t>
            </a:r>
            <a:r>
              <a:rPr lang="en-US" altLang="zh-CN" sz="2000" dirty="0" err="1"/>
              <a:t>i</a:t>
            </a:r>
            <a:r>
              <a:rPr lang="zh-CN" altLang="en-US" sz="2000" dirty="0"/>
              <a:t>毫秒</a:t>
            </a:r>
            <a:endParaRPr lang="zh-CN" altLang="en-US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382905" y="5939155"/>
            <a:ext cx="546862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注意：传输文件时一定要确认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PC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与开发板在同一网段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!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否则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开发板极有可能无法收到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文件。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嵌入式系统及课程设计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97935" y="2794716"/>
            <a:ext cx="6106732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Thanks</a:t>
            </a:r>
            <a:endParaRPr lang="en-US" altLang="zh-CN" sz="4800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algn="ctr"/>
            <a:endParaRPr lang="en-US" altLang="zh-CN" sz="4800" dirty="0">
              <a:latin typeface="+mn-ea"/>
            </a:endParaRPr>
          </a:p>
          <a:p>
            <a:pPr algn="ctr"/>
            <a:r>
              <a:rPr lang="en-US" altLang="zh-CN" sz="2400" dirty="0">
                <a:latin typeface="+mn-ea"/>
              </a:rPr>
              <a:t>2025.02.23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1585</Words>
  <Application>WPS 演示</Application>
  <PresentationFormat>宽屏</PresentationFormat>
  <Paragraphs>141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华光楷体_CNKI</vt:lpstr>
      <vt:lpstr>华文仿宋</vt:lpstr>
      <vt:lpstr>Sitka Small</vt:lpstr>
      <vt:lpstr>等线</vt:lpstr>
      <vt:lpstr>仿宋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HN Z</dc:creator>
  <cp:lastModifiedBy>Peter</cp:lastModifiedBy>
  <cp:revision>23</cp:revision>
  <dcterms:created xsi:type="dcterms:W3CDTF">2021-03-16T13:53:00Z</dcterms:created>
  <dcterms:modified xsi:type="dcterms:W3CDTF">2025-02-23T17:37:17Z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5A154ABB58CD451B9F1C439121BD8425_13</vt:lpwstr>
  </property>
  <property fmtid="{D5CDD505-2E9C-101B-9397-08002B2CF9AE}" pid="3" name="KSOProductBuildVer">
    <vt:lpwstr>2052-12.1.0.19770</vt:lpwstr>
  </property>
</Properties>
</file>