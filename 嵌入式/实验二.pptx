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70" r:id="rId4"/>
    <p:sldId id="259" r:id="rId5"/>
    <p:sldId id="260" r:id="rId6"/>
    <p:sldId id="261" r:id="rId7"/>
    <p:sldId id="262" r:id="rId8"/>
    <p:sldId id="263" r:id="rId9"/>
    <p:sldId id="26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7A2BC-40ED-4AB6-B38D-263F6D7B5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3094E2-CE08-40D3-AB2E-5B42F54B8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2F7CD-D954-42BC-984C-BCEF5F78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F49512-03A3-4C33-AFC6-05C7CA52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BADC4A-F349-47FA-995B-642AEA759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17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F014C-D1C2-425F-A73E-2DD632961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55DAFF-5E3B-441C-B86E-DC4BFF059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AFD1B6-60DD-4C29-B15E-17F9A004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438E0F-E093-4165-AE2A-4E46F4D7A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5CE708-725B-4F4F-AA76-200B06E8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210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CFD99-DC0A-46E2-9624-F071C1E6B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E62F71-FC53-4C06-A881-C2DA57C0E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602B63-0351-49F8-8D79-D321BC9D8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52D5A-3807-4CEC-8D83-AAA246D73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B6E357-6FED-4E70-8C0B-E74093BE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201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98482-24BF-4272-9E5A-BC46AFE0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C00A10-AAAF-4252-9912-4FA75F44E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2F1542-27E9-49A1-8121-DF248338A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998AAB-6DD8-4221-88C6-4F5BE06B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5C987D-2AE1-48BE-883D-CC3A85A0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1DE112-1502-4E20-A4D3-72ABF970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612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22D43-45FE-4FF4-BA5D-6C6CD78C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53EBEF-2CCE-4AEE-98E1-71A552B49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9EA57A-1EED-49BA-9C24-66ACA3E6D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AD18F4-3FE4-4C03-B781-7059764E2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6990B5-DB1F-4676-869D-E4539EDC8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F929C6-6539-4F02-9DAE-41280AA43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A15E68-D8DA-4C1B-9E09-05288CF39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C74957-D351-4462-9F9E-3C3D6442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43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702F3-CF7E-4C53-B836-6FA91602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3B45AB-26C3-4D42-9802-BFB91EE7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90175E-9554-49E3-A733-5E791BBB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C328F5-86A6-4A66-868D-11C32BB8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02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1D48B3-EAD0-41AE-8E03-6268A94E9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977013-492D-404A-925B-6126410F8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6FBB1F-065A-4C1A-95FC-6F926556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006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EFD51-5B27-49DB-87CD-2B294EE46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A140FE-5336-41C1-B025-9100D4237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B2D4B2-9B66-4F09-A7A5-AA3E08977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DEA1D6-14ED-45F0-A33D-54ABF0FA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6C2099-F8E6-4005-883D-36C06E6A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A3A12B-6301-44C8-BB81-6B6165D4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32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13AAE-884C-4E36-B0C5-9FC5C5A4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376B3F-55E3-4436-8871-830AED7C0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2E6F16-BFD3-42B8-8DB3-E9FEDAC28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2CD6FF-C3DD-42EB-8A59-1C5A246DF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C68C55-A712-45DB-8B7F-E8302C2EF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DEED6B-6BAE-4274-900C-FC783B7D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67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C8751-9AA3-4AEF-A2E3-A405A4FBC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BEB0BF-8668-4DF3-B9D0-E041C324F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6F3CD4-0073-410F-BF47-394EBD75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C25A6A-3D67-4CF3-A5F9-B680087F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B49EDF-4599-43E5-B2BF-41AD6153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88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25F59E-C54B-4D18-841E-35A52E0FE3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4D6AF0-DD15-4ACA-9B0C-317AA6FD0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B3D25A-414C-4426-857B-B6E46C3D4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E12CFB-3273-4764-8DE0-9491DD34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73D88-2CAC-4917-9287-493C0BAC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10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25D87E-09C2-4383-86A1-FF8ABE672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0EB3F4-3C78-48C8-84A2-B30658AF2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66C6AB-E1F0-423C-8299-4CF15C7C5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4C936-259F-48ED-83D2-50DC01A792E1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84C1F9-6915-4DFF-AD88-57B4D8C6D6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4C393-2EF8-4DA4-8FE6-7A433875E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1B4CA-6AA1-48BA-AF49-23E29A11F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20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>
            <a:extLst>
              <a:ext uri="{FF2B5EF4-FFF2-40B4-BE49-F238E27FC236}">
                <a16:creationId xmlns:a16="http://schemas.microsoft.com/office/drawing/2014/main" id="{9E171637-3C9C-40D5-B0F4-0A789CDFBD1A}"/>
              </a:ext>
            </a:extLst>
          </p:cNvPr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F0912826-0E1B-4BF6-8209-592F1BCF7B68}"/>
                </a:ext>
              </a:extLst>
            </p:cNvPr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494CEE00-C6D1-47D0-9F58-C852A718C629}"/>
                </a:ext>
              </a:extLst>
            </p:cNvPr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1B169DD1-A1C7-41F3-A13F-04BD411B5693}"/>
                </a:ext>
              </a:extLst>
            </p:cNvPr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18B09F38-BED1-4B1C-A612-C3EB10BC51AF}"/>
                </a:ext>
              </a:extLst>
            </p:cNvPr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EAEFF69-7F7B-4DE7-AACD-775027528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946FFB-D43D-4CF7-AA6D-135D73C96E96}"/>
              </a:ext>
            </a:extLst>
          </p:cNvPr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嵌入式系统及课程设计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262ED4-0733-4DE5-9844-AC22E203D958}"/>
              </a:ext>
            </a:extLst>
          </p:cNvPr>
          <p:cNvSpPr txBox="1"/>
          <p:nvPr/>
        </p:nvSpPr>
        <p:spPr>
          <a:xfrm>
            <a:off x="2102196" y="2732324"/>
            <a:ext cx="74982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实验二</a:t>
            </a:r>
            <a:r>
              <a:rPr lang="en-US" altLang="zh-CN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文件</a:t>
            </a:r>
            <a:r>
              <a:rPr lang="en-US" altLang="zh-CN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IO</a:t>
            </a:r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和串口通信</a:t>
            </a:r>
            <a:endParaRPr lang="en-US" altLang="zh-CN" sz="4800" dirty="0">
              <a:latin typeface="+mn-ea"/>
            </a:endParaRPr>
          </a:p>
          <a:p>
            <a:pPr algn="ctr"/>
            <a:endParaRPr lang="en-US" altLang="zh-CN" sz="3200" dirty="0">
              <a:latin typeface="+mn-ea"/>
            </a:endParaRPr>
          </a:p>
          <a:p>
            <a:pPr algn="ctr"/>
            <a:r>
              <a:rPr lang="en-US" altLang="zh-CN" sz="3200" dirty="0">
                <a:latin typeface="+mn-ea"/>
              </a:rPr>
              <a:t>2025.02.23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4CE38D2-BFE7-41DE-97D0-23F1DE9A4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269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A7F29-585B-716C-DDA4-534FDF7A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>
            <a:extLst>
              <a:ext uri="{FF2B5EF4-FFF2-40B4-BE49-F238E27FC236}">
                <a16:creationId xmlns:a16="http://schemas.microsoft.com/office/drawing/2014/main" id="{510A4A89-CEBC-8965-04C5-4113D95C7502}"/>
              </a:ext>
            </a:extLst>
          </p:cNvPr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10DCF030-8B98-BBE9-A873-11BCB6279179}"/>
                </a:ext>
              </a:extLst>
            </p:cNvPr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DC37E167-6FF2-3088-D851-E6D751D8A658}"/>
                </a:ext>
              </a:extLst>
            </p:cNvPr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9BF5C5F2-E87E-4A09-B67B-E434EF08E066}"/>
                </a:ext>
              </a:extLst>
            </p:cNvPr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82C6EA28-616C-ACD5-E7B7-665F93986222}"/>
                </a:ext>
              </a:extLst>
            </p:cNvPr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AA16EBAC-AE4E-0B1F-7FB2-AC9D29179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1C8E8CE-6D66-4CBC-AA9F-F11F983AD03B}"/>
              </a:ext>
            </a:extLst>
          </p:cNvPr>
          <p:cNvSpPr txBox="1"/>
          <p:nvPr/>
        </p:nvSpPr>
        <p:spPr>
          <a:xfrm>
            <a:off x="244698" y="218941"/>
            <a:ext cx="6303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实验二  文件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IO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和串口通信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D07199-C7D3-3705-C63F-862D4A2448F2}"/>
              </a:ext>
            </a:extLst>
          </p:cNvPr>
          <p:cNvSpPr txBox="1"/>
          <p:nvPr/>
        </p:nvSpPr>
        <p:spPr>
          <a:xfrm>
            <a:off x="501696" y="1092032"/>
            <a:ext cx="8820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实验目的：</a:t>
            </a:r>
            <a:endParaRPr lang="en-US" altLang="zh-CN" sz="32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3200" dirty="0">
              <a:latin typeface="+mn-ea"/>
            </a:endParaRPr>
          </a:p>
          <a:p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ED430BD-2A20-B313-74D7-C3CF188F7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5F6C2F5-D55D-DB4F-F1B5-BB5DA420A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97" y="2217548"/>
            <a:ext cx="5594304" cy="135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3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>
            <a:extLst>
              <a:ext uri="{FF2B5EF4-FFF2-40B4-BE49-F238E27FC236}">
                <a16:creationId xmlns:a16="http://schemas.microsoft.com/office/drawing/2014/main" id="{9E171637-3C9C-40D5-B0F4-0A789CDFBD1A}"/>
              </a:ext>
            </a:extLst>
          </p:cNvPr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F0912826-0E1B-4BF6-8209-592F1BCF7B68}"/>
                </a:ext>
              </a:extLst>
            </p:cNvPr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494CEE00-C6D1-47D0-9F58-C852A718C629}"/>
                </a:ext>
              </a:extLst>
            </p:cNvPr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1B169DD1-A1C7-41F3-A13F-04BD411B5693}"/>
                </a:ext>
              </a:extLst>
            </p:cNvPr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18B09F38-BED1-4B1C-A612-C3EB10BC51AF}"/>
                </a:ext>
              </a:extLst>
            </p:cNvPr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EAEFF69-7F7B-4DE7-AACD-775027528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946FFB-D43D-4CF7-AA6D-135D73C96E96}"/>
              </a:ext>
            </a:extLst>
          </p:cNvPr>
          <p:cNvSpPr txBox="1"/>
          <p:nvPr/>
        </p:nvSpPr>
        <p:spPr>
          <a:xfrm>
            <a:off x="244698" y="218941"/>
            <a:ext cx="6303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实验二  文件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IO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和串口通信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262ED4-0733-4DE5-9844-AC22E203D958}"/>
              </a:ext>
            </a:extLst>
          </p:cNvPr>
          <p:cNvSpPr txBox="1"/>
          <p:nvPr/>
        </p:nvSpPr>
        <p:spPr>
          <a:xfrm>
            <a:off x="501696" y="1092032"/>
            <a:ext cx="8820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实验内容：</a:t>
            </a:r>
            <a:endParaRPr lang="en-US" altLang="zh-CN" sz="32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3200" dirty="0">
              <a:latin typeface="+mn-ea"/>
            </a:endParaRPr>
          </a:p>
          <a:p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4CE38D2-BFE7-41DE-97D0-23F1DE9A4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C111289-D8BC-6ED5-3AF8-EA5AB4FCB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97" y="2175148"/>
            <a:ext cx="7657718" cy="189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>
            <a:extLst>
              <a:ext uri="{FF2B5EF4-FFF2-40B4-BE49-F238E27FC236}">
                <a16:creationId xmlns:a16="http://schemas.microsoft.com/office/drawing/2014/main" id="{9E171637-3C9C-40D5-B0F4-0A789CDFBD1A}"/>
              </a:ext>
            </a:extLst>
          </p:cNvPr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F0912826-0E1B-4BF6-8209-592F1BCF7B68}"/>
                </a:ext>
              </a:extLst>
            </p:cNvPr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494CEE00-C6D1-47D0-9F58-C852A718C629}"/>
                </a:ext>
              </a:extLst>
            </p:cNvPr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1B169DD1-A1C7-41F3-A13F-04BD411B5693}"/>
                </a:ext>
              </a:extLst>
            </p:cNvPr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18B09F38-BED1-4B1C-A612-C3EB10BC51AF}"/>
                </a:ext>
              </a:extLst>
            </p:cNvPr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EAEFF69-7F7B-4DE7-AACD-775027528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946FFB-D43D-4CF7-AA6D-135D73C96E96}"/>
              </a:ext>
            </a:extLst>
          </p:cNvPr>
          <p:cNvSpPr txBox="1"/>
          <p:nvPr/>
        </p:nvSpPr>
        <p:spPr>
          <a:xfrm>
            <a:off x="244699" y="218941"/>
            <a:ext cx="6202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实验二  文件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IO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和串口通信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4CE38D2-BFE7-41DE-97D0-23F1DE9A4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FACEB95-0A18-BC11-E2E5-73CD081A5348}"/>
              </a:ext>
            </a:extLst>
          </p:cNvPr>
          <p:cNvSpPr txBox="1"/>
          <p:nvPr/>
        </p:nvSpPr>
        <p:spPr>
          <a:xfrm>
            <a:off x="724535" y="1146175"/>
            <a:ext cx="8820785" cy="890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实验步骤：</a:t>
            </a:r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4F265CB-374C-2DB9-3984-B0CF51DE0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35" y="2037080"/>
            <a:ext cx="7686247" cy="378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4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>
            <a:extLst>
              <a:ext uri="{FF2B5EF4-FFF2-40B4-BE49-F238E27FC236}">
                <a16:creationId xmlns:a16="http://schemas.microsoft.com/office/drawing/2014/main" id="{9E171637-3C9C-40D5-B0F4-0A789CDFBD1A}"/>
              </a:ext>
            </a:extLst>
          </p:cNvPr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F0912826-0E1B-4BF6-8209-592F1BCF7B68}"/>
                </a:ext>
              </a:extLst>
            </p:cNvPr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494CEE00-C6D1-47D0-9F58-C852A718C629}"/>
                </a:ext>
              </a:extLst>
            </p:cNvPr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1B169DD1-A1C7-41F3-A13F-04BD411B5693}"/>
                </a:ext>
              </a:extLst>
            </p:cNvPr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18B09F38-BED1-4B1C-A612-C3EB10BC51AF}"/>
                </a:ext>
              </a:extLst>
            </p:cNvPr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EAEFF69-7F7B-4DE7-AACD-775027528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946FFB-D43D-4CF7-AA6D-135D73C96E96}"/>
              </a:ext>
            </a:extLst>
          </p:cNvPr>
          <p:cNvSpPr txBox="1"/>
          <p:nvPr/>
        </p:nvSpPr>
        <p:spPr>
          <a:xfrm>
            <a:off x="244699" y="218941"/>
            <a:ext cx="6148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实验二  文件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IO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和串口通信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96B418-4FC3-B247-CA4E-EEB9DDBDD0B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24535" y="1393190"/>
            <a:ext cx="434403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/>
              <a:t>函数及相关代码分析</a:t>
            </a:r>
            <a:r>
              <a:rPr lang="zh-CN" altLang="en-US" sz="2400" dirty="0"/>
              <a:t>：</a:t>
            </a:r>
          </a:p>
          <a:p>
            <a:endParaRPr lang="zh-CN" altLang="en-US" sz="20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09E7193-234B-23F2-BA29-B108E0149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62" y="4215895"/>
            <a:ext cx="4486275" cy="82867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B05079B-702B-95D3-A749-CAD64A2FD8F3}"/>
              </a:ext>
            </a:extLst>
          </p:cNvPr>
          <p:cNvSpPr txBox="1"/>
          <p:nvPr/>
        </p:nvSpPr>
        <p:spPr>
          <a:xfrm>
            <a:off x="724535" y="2161540"/>
            <a:ext cx="369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以这段代码为例，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9C3FDA2-713C-8B87-ED9A-AA1C3A590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177" y="2258013"/>
            <a:ext cx="3124200" cy="20955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DCDA2FFA-5D2E-6D83-49B7-ECF469A7562C}"/>
              </a:ext>
            </a:extLst>
          </p:cNvPr>
          <p:cNvSpPr txBox="1"/>
          <p:nvPr/>
        </p:nvSpPr>
        <p:spPr>
          <a:xfrm>
            <a:off x="750036" y="2564036"/>
            <a:ext cx="4744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表示初始化串口，波特率</a:t>
            </a:r>
            <a:r>
              <a:rPr lang="en-US" altLang="zh-CN" dirty="0"/>
              <a:t>115200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位数据位，无校验，</a:t>
            </a:r>
            <a:r>
              <a:rPr lang="en-US" altLang="zh-CN" dirty="0"/>
              <a:t>1</a:t>
            </a:r>
            <a:r>
              <a:rPr lang="zh-CN" altLang="en-US" dirty="0"/>
              <a:t>位停止位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0FBAD92-3027-6F67-41DF-633599691C66}"/>
              </a:ext>
            </a:extLst>
          </p:cNvPr>
          <p:cNvSpPr txBox="1"/>
          <p:nvPr/>
        </p:nvSpPr>
        <p:spPr>
          <a:xfrm>
            <a:off x="750036" y="3530285"/>
            <a:ext cx="534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串口打开方式：若函数</a:t>
            </a:r>
            <a:r>
              <a:rPr lang="en-US" altLang="zh-CN" dirty="0"/>
              <a:t>open(x</a:t>
            </a:r>
            <a:r>
              <a:rPr lang="zh-CN" altLang="en-US" dirty="0"/>
              <a:t>，</a:t>
            </a:r>
            <a:r>
              <a:rPr lang="en-US" altLang="zh-CN" dirty="0"/>
              <a:t>xxx)</a:t>
            </a:r>
            <a:r>
              <a:rPr lang="zh-CN" altLang="en-US" dirty="0"/>
              <a:t>返回值小于</a:t>
            </a:r>
            <a:r>
              <a:rPr lang="en-US" altLang="zh-CN" dirty="0"/>
              <a:t>0</a:t>
            </a:r>
            <a:r>
              <a:rPr lang="zh-CN" altLang="en-US" dirty="0"/>
              <a:t>，则表示串口打开失败，否则表示串口已成功打开。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A3FAB9F6-7D7B-B72F-3E68-407136236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2807871"/>
            <a:ext cx="4200525" cy="139065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ACB3D3F2-A452-357C-E586-9605B52EB88A}"/>
              </a:ext>
            </a:extLst>
          </p:cNvPr>
          <p:cNvSpPr txBox="1"/>
          <p:nvPr/>
        </p:nvSpPr>
        <p:spPr>
          <a:xfrm>
            <a:off x="6393051" y="2161540"/>
            <a:ext cx="534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读取电阻与串口打开类似：</a:t>
            </a:r>
            <a:endParaRPr lang="en-US" altLang="zh-CN" dirty="0"/>
          </a:p>
          <a:p>
            <a:r>
              <a:rPr lang="zh-CN" altLang="en-US" dirty="0"/>
              <a:t>代码参考如下：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F280CF3-33F8-D7FA-21D1-CF0B49684A43}"/>
              </a:ext>
            </a:extLst>
          </p:cNvPr>
          <p:cNvSpPr txBox="1"/>
          <p:nvPr/>
        </p:nvSpPr>
        <p:spPr>
          <a:xfrm>
            <a:off x="6393051" y="4398239"/>
            <a:ext cx="3849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读取到的电阻数据是</a:t>
            </a:r>
            <a:r>
              <a:rPr lang="en-US" altLang="zh-CN" dirty="0"/>
              <a:t>ASCII</a:t>
            </a:r>
            <a:r>
              <a:rPr lang="zh-CN" altLang="en-US" dirty="0"/>
              <a:t>码形式，需要转换为</a:t>
            </a:r>
            <a:r>
              <a:rPr lang="en-US" altLang="zh-CN" dirty="0"/>
              <a:t>int</a:t>
            </a:r>
            <a:r>
              <a:rPr lang="zh-CN" altLang="en-US" dirty="0"/>
              <a:t>类型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AB3E53C-5FC7-B3D2-C379-0C1BDE604F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5053788"/>
            <a:ext cx="2781300" cy="190500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F25B9825-B093-0167-C361-835C6AB58CF9}"/>
              </a:ext>
            </a:extLst>
          </p:cNvPr>
          <p:cNvSpPr txBox="1"/>
          <p:nvPr/>
        </p:nvSpPr>
        <p:spPr>
          <a:xfrm>
            <a:off x="804862" y="5780838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提示：时间戳表示方式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A7731445-80CD-9C37-CB63-46F5712AB8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3018" y="5660704"/>
            <a:ext cx="653415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1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>
            <a:extLst>
              <a:ext uri="{FF2B5EF4-FFF2-40B4-BE49-F238E27FC236}">
                <a16:creationId xmlns:a16="http://schemas.microsoft.com/office/drawing/2014/main" id="{9E171637-3C9C-40D5-B0F4-0A789CDFBD1A}"/>
              </a:ext>
            </a:extLst>
          </p:cNvPr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F0912826-0E1B-4BF6-8209-592F1BCF7B68}"/>
                </a:ext>
              </a:extLst>
            </p:cNvPr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494CEE00-C6D1-47D0-9F58-C852A718C629}"/>
                </a:ext>
              </a:extLst>
            </p:cNvPr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1B169DD1-A1C7-41F3-A13F-04BD411B5693}"/>
                </a:ext>
              </a:extLst>
            </p:cNvPr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18B09F38-BED1-4B1C-A612-C3EB10BC51AF}"/>
                </a:ext>
              </a:extLst>
            </p:cNvPr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EAEFF69-7F7B-4DE7-AACD-775027528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946FFB-D43D-4CF7-AA6D-135D73C96E96}"/>
              </a:ext>
            </a:extLst>
          </p:cNvPr>
          <p:cNvSpPr txBox="1"/>
          <p:nvPr/>
        </p:nvSpPr>
        <p:spPr>
          <a:xfrm>
            <a:off x="244699" y="218941"/>
            <a:ext cx="61793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实验二  文件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IO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和串口通信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8EA3B0-2E39-750C-B247-AC0EB596CF84}"/>
              </a:ext>
            </a:extLst>
          </p:cNvPr>
          <p:cNvSpPr txBox="1"/>
          <p:nvPr/>
        </p:nvSpPr>
        <p:spPr>
          <a:xfrm>
            <a:off x="6104585" y="1493304"/>
            <a:ext cx="4816699" cy="42004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open()</a:t>
            </a:r>
            <a:r>
              <a:rPr lang="zh-CN" altLang="en-US" sz="2000" dirty="0"/>
              <a:t>：打开字符设备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/>
              <a:t>memset</a:t>
            </a:r>
            <a:r>
              <a:rPr lang="en-US" altLang="zh-CN" sz="2000" dirty="0"/>
              <a:t>()</a:t>
            </a:r>
            <a:r>
              <a:rPr lang="zh-CN" altLang="en-US" sz="2000" dirty="0"/>
              <a:t>：填充内存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read()</a:t>
            </a:r>
            <a:r>
              <a:rPr lang="zh-CN" altLang="en-US" sz="2000" dirty="0"/>
              <a:t>：字符设备读取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write()</a:t>
            </a:r>
            <a:r>
              <a:rPr lang="zh-CN" altLang="en-US" sz="2000" dirty="0"/>
              <a:t>：字符设备写入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/>
              <a:t>atoi</a:t>
            </a:r>
            <a:r>
              <a:rPr lang="en-US" altLang="zh-CN" sz="2000" dirty="0"/>
              <a:t>()</a:t>
            </a:r>
            <a:r>
              <a:rPr lang="zh-CN" altLang="en-US" sz="2000" dirty="0"/>
              <a:t>：</a:t>
            </a:r>
            <a:r>
              <a:rPr lang="en-US" altLang="zh-CN" sz="2000" dirty="0"/>
              <a:t>ASCII</a:t>
            </a:r>
            <a:r>
              <a:rPr lang="zh-CN" altLang="en-US" sz="2000" dirty="0"/>
              <a:t>转</a:t>
            </a:r>
            <a:r>
              <a:rPr lang="en-US" altLang="zh-CN" sz="2000" dirty="0"/>
              <a:t>int</a:t>
            </a:r>
            <a:r>
              <a:rPr lang="zh-CN" altLang="en-US" sz="2000" dirty="0"/>
              <a:t>，字符串转整型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int </a:t>
            </a:r>
            <a:r>
              <a:rPr lang="en-US" altLang="zh-CN" sz="2000" dirty="0" err="1"/>
              <a:t>ioct</a:t>
            </a:r>
            <a:r>
              <a:rPr lang="en-US" altLang="zh-CN" sz="2000" dirty="0"/>
              <a:t>()</a:t>
            </a:r>
            <a:r>
              <a:rPr lang="zh-CN" altLang="en-US" sz="2000" dirty="0"/>
              <a:t>：字符设备</a:t>
            </a:r>
            <a:r>
              <a:rPr lang="en-US" altLang="zh-CN" sz="2000" dirty="0"/>
              <a:t>10</a:t>
            </a:r>
            <a:r>
              <a:rPr lang="zh-CN" altLang="en-US" sz="2000" dirty="0"/>
              <a:t>控制</a:t>
            </a:r>
            <a:r>
              <a:rPr lang="en-US" altLang="zh-CN" sz="2000" dirty="0"/>
              <a:t>,</a:t>
            </a:r>
            <a:r>
              <a:rPr lang="zh-CN" altLang="en-US" sz="2000" dirty="0"/>
              <a:t>返回</a:t>
            </a:r>
            <a:r>
              <a:rPr lang="en-US" altLang="zh-CN" sz="2000" dirty="0"/>
              <a:t>0</a:t>
            </a:r>
            <a:r>
              <a:rPr lang="zh-CN" altLang="en-US" sz="2000" dirty="0"/>
              <a:t>表示成功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sleep(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</a:t>
            </a:r>
            <a:r>
              <a:rPr lang="zh-CN" altLang="en-US" sz="2000" dirty="0"/>
              <a:t>：线程休眠等待</a:t>
            </a:r>
            <a:r>
              <a:rPr lang="en-US" altLang="zh-CN" sz="2000" dirty="0" err="1"/>
              <a:t>i</a:t>
            </a:r>
            <a:r>
              <a:rPr lang="zh-CN" altLang="en-US" sz="2000" dirty="0"/>
              <a:t>秒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/>
              <a:t>usleep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</a:t>
            </a:r>
            <a:r>
              <a:rPr lang="zh-CN" altLang="en-US" sz="2000" dirty="0"/>
              <a:t>：线程休眠等待</a:t>
            </a:r>
            <a:r>
              <a:rPr lang="en-US" altLang="zh-CN" sz="2000" dirty="0" err="1"/>
              <a:t>i</a:t>
            </a:r>
            <a:r>
              <a:rPr lang="zh-CN" altLang="en-US" sz="2000" dirty="0"/>
              <a:t>毫秒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F3479D-4759-6E82-C7A9-41E2B2A2850D}"/>
              </a:ext>
            </a:extLst>
          </p:cNvPr>
          <p:cNvSpPr txBox="1"/>
          <p:nvPr/>
        </p:nvSpPr>
        <p:spPr>
          <a:xfrm>
            <a:off x="851218" y="3445811"/>
            <a:ext cx="4313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补充实验二中主体部分代码时可以参考右图中的主要函数。</a:t>
            </a:r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5F686EF-A0E1-716A-2D57-B574073C0291}"/>
              </a:ext>
            </a:extLst>
          </p:cNvPr>
          <p:cNvSpPr txBox="1"/>
          <p:nvPr/>
        </p:nvSpPr>
        <p:spPr>
          <a:xfrm>
            <a:off x="795677" y="1191855"/>
            <a:ext cx="36924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注意事项：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dirty="0"/>
              <a:t>每次使用</a:t>
            </a:r>
            <a:r>
              <a:rPr lang="en-US" altLang="zh-CN" dirty="0"/>
              <a:t>buffer</a:t>
            </a:r>
            <a:r>
              <a:rPr lang="zh-CN" altLang="en-US" dirty="0"/>
              <a:t>时，记得先将其内存区域清零，即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58234E5-957C-3256-9BFA-A6586EAB6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18" y="2770597"/>
            <a:ext cx="3581400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6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>
            <a:extLst>
              <a:ext uri="{FF2B5EF4-FFF2-40B4-BE49-F238E27FC236}">
                <a16:creationId xmlns:a16="http://schemas.microsoft.com/office/drawing/2014/main" id="{9E171637-3C9C-40D5-B0F4-0A789CDFBD1A}"/>
              </a:ext>
            </a:extLst>
          </p:cNvPr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F0912826-0E1B-4BF6-8209-592F1BCF7B68}"/>
                </a:ext>
              </a:extLst>
            </p:cNvPr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494CEE00-C6D1-47D0-9F58-C852A718C629}"/>
                </a:ext>
              </a:extLst>
            </p:cNvPr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1B169DD1-A1C7-41F3-A13F-04BD411B5693}"/>
                </a:ext>
              </a:extLst>
            </p:cNvPr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18B09F38-BED1-4B1C-A612-C3EB10BC51AF}"/>
                </a:ext>
              </a:extLst>
            </p:cNvPr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EAEFF69-7F7B-4DE7-AACD-775027528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946FFB-D43D-4CF7-AA6D-135D73C96E96}"/>
              </a:ext>
            </a:extLst>
          </p:cNvPr>
          <p:cNvSpPr txBox="1"/>
          <p:nvPr/>
        </p:nvSpPr>
        <p:spPr>
          <a:xfrm>
            <a:off x="244699" y="218941"/>
            <a:ext cx="6187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实验二  文件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IO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和串口通信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1E7DEC-5156-C27E-2FC6-4B23E69F4018}"/>
              </a:ext>
            </a:extLst>
          </p:cNvPr>
          <p:cNvSpPr txBox="1"/>
          <p:nvPr/>
        </p:nvSpPr>
        <p:spPr>
          <a:xfrm>
            <a:off x="917270" y="1175460"/>
            <a:ext cx="7170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串口通信运行界面：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AC01B24-D639-06BB-C48D-89834193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7" y="1832523"/>
            <a:ext cx="8915237" cy="509187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259BF4B-DDA1-D4D2-F5B9-82E35A501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968" y="3794233"/>
            <a:ext cx="4525565" cy="306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5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>
            <a:extLst>
              <a:ext uri="{FF2B5EF4-FFF2-40B4-BE49-F238E27FC236}">
                <a16:creationId xmlns:a16="http://schemas.microsoft.com/office/drawing/2014/main" id="{9E171637-3C9C-40D5-B0F4-0A789CDFBD1A}"/>
              </a:ext>
            </a:extLst>
          </p:cNvPr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F0912826-0E1B-4BF6-8209-592F1BCF7B68}"/>
                </a:ext>
              </a:extLst>
            </p:cNvPr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494CEE00-C6D1-47D0-9F58-C852A718C629}"/>
                </a:ext>
              </a:extLst>
            </p:cNvPr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1B169DD1-A1C7-41F3-A13F-04BD411B5693}"/>
                </a:ext>
              </a:extLst>
            </p:cNvPr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18B09F38-BED1-4B1C-A612-C3EB10BC51AF}"/>
                </a:ext>
              </a:extLst>
            </p:cNvPr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EAEFF69-7F7B-4DE7-AACD-775027528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946FFB-D43D-4CF7-AA6D-135D73C96E96}"/>
              </a:ext>
            </a:extLst>
          </p:cNvPr>
          <p:cNvSpPr txBox="1"/>
          <p:nvPr/>
        </p:nvSpPr>
        <p:spPr>
          <a:xfrm>
            <a:off x="244699" y="218941"/>
            <a:ext cx="62413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实验二  文件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IO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和串口通信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262ED4-0733-4DE5-9844-AC22E203D958}"/>
              </a:ext>
            </a:extLst>
          </p:cNvPr>
          <p:cNvSpPr txBox="1"/>
          <p:nvPr/>
        </p:nvSpPr>
        <p:spPr>
          <a:xfrm>
            <a:off x="724437" y="1348800"/>
            <a:ext cx="88205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473499-E07B-79EE-4776-2A99E3C4BC64}"/>
              </a:ext>
            </a:extLst>
          </p:cNvPr>
          <p:cNvSpPr txBox="1"/>
          <p:nvPr/>
        </p:nvSpPr>
        <p:spPr>
          <a:xfrm>
            <a:off x="986844" y="1344832"/>
            <a:ext cx="7170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文件</a:t>
            </a:r>
            <a:r>
              <a:rPr lang="en-US" altLang="zh-CN" sz="2400" b="1" dirty="0">
                <a:latin typeface="+mn-ea"/>
              </a:rPr>
              <a:t>IO</a:t>
            </a:r>
            <a:r>
              <a:rPr lang="zh-CN" altLang="en-US" sz="2400" b="1" dirty="0">
                <a:latin typeface="+mn-ea"/>
              </a:rPr>
              <a:t>运行界面：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803C5EA-F587-4938-BDC1-E597653DC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041" y="1939206"/>
            <a:ext cx="6340997" cy="421547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05DEB76-AF16-E549-6E41-BAC12E21E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32" y="1939206"/>
            <a:ext cx="6212661" cy="414177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71127C2-665A-B1C0-11F0-FA6F1B0619C0}"/>
              </a:ext>
            </a:extLst>
          </p:cNvPr>
          <p:cNvSpPr txBox="1"/>
          <p:nvPr/>
        </p:nvSpPr>
        <p:spPr>
          <a:xfrm>
            <a:off x="1826695" y="6157036"/>
            <a:ext cx="37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学号</a:t>
            </a:r>
            <a:r>
              <a:rPr lang="en-US" altLang="zh-CN" dirty="0"/>
              <a:t>-</a:t>
            </a:r>
            <a:r>
              <a:rPr lang="zh-CN" altLang="en-US" dirty="0"/>
              <a:t>姓名</a:t>
            </a:r>
            <a:r>
              <a:rPr lang="en-US" altLang="zh-CN" dirty="0"/>
              <a:t>-</a:t>
            </a:r>
            <a:r>
              <a:rPr lang="zh-CN" altLang="en-US" dirty="0"/>
              <a:t>时间戳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6F6047D-B4E6-B87D-995D-E29081D1C3D8}"/>
              </a:ext>
            </a:extLst>
          </p:cNvPr>
          <p:cNvSpPr txBox="1"/>
          <p:nvPr/>
        </p:nvSpPr>
        <p:spPr>
          <a:xfrm>
            <a:off x="7620000" y="6157036"/>
            <a:ext cx="37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电阻阻值和报警信息写入文件</a:t>
            </a:r>
          </a:p>
        </p:txBody>
      </p:sp>
    </p:spTree>
    <p:extLst>
      <p:ext uri="{BB962C8B-B14F-4D97-AF65-F5344CB8AC3E}">
        <p14:creationId xmlns:p14="http://schemas.microsoft.com/office/powerpoint/2010/main" val="45574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>
            <a:extLst>
              <a:ext uri="{FF2B5EF4-FFF2-40B4-BE49-F238E27FC236}">
                <a16:creationId xmlns:a16="http://schemas.microsoft.com/office/drawing/2014/main" id="{9E171637-3C9C-40D5-B0F4-0A789CDFBD1A}"/>
              </a:ext>
            </a:extLst>
          </p:cNvPr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F0912826-0E1B-4BF6-8209-592F1BCF7B68}"/>
                </a:ext>
              </a:extLst>
            </p:cNvPr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494CEE00-C6D1-47D0-9F58-C852A718C629}"/>
                </a:ext>
              </a:extLst>
            </p:cNvPr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1B169DD1-A1C7-41F3-A13F-04BD411B5693}"/>
                </a:ext>
              </a:extLst>
            </p:cNvPr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18B09F38-BED1-4B1C-A612-C3EB10BC51AF}"/>
                </a:ext>
              </a:extLst>
            </p:cNvPr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EAEFF69-7F7B-4DE7-AACD-775027528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946FFB-D43D-4CF7-AA6D-135D73C96E96}"/>
              </a:ext>
            </a:extLst>
          </p:cNvPr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嵌入式系统及课程设计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262ED4-0733-4DE5-9844-AC22E203D958}"/>
              </a:ext>
            </a:extLst>
          </p:cNvPr>
          <p:cNvSpPr txBox="1"/>
          <p:nvPr/>
        </p:nvSpPr>
        <p:spPr>
          <a:xfrm>
            <a:off x="2797935" y="2794716"/>
            <a:ext cx="61067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Thanks</a:t>
            </a:r>
          </a:p>
          <a:p>
            <a:pPr algn="ctr"/>
            <a:endParaRPr lang="en-US" altLang="zh-CN" sz="4800" dirty="0">
              <a:latin typeface="+mn-ea"/>
            </a:endParaRPr>
          </a:p>
          <a:p>
            <a:pPr algn="ctr"/>
            <a:r>
              <a:rPr lang="en-US" altLang="zh-CN" sz="2400" dirty="0">
                <a:latin typeface="+mn-ea"/>
              </a:rPr>
              <a:t>2025.02.23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4CE38D2-BFE7-41DE-97D0-23F1DE9A4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0163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294</Words>
  <Application>Microsoft Office PowerPoint</Application>
  <PresentationFormat>宽屏</PresentationFormat>
  <Paragraphs>47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华光楷体_CNKI</vt:lpstr>
      <vt:lpstr>华文仿宋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HN Z</dc:creator>
  <cp:lastModifiedBy>子琛 胡</cp:lastModifiedBy>
  <cp:revision>24</cp:revision>
  <dcterms:created xsi:type="dcterms:W3CDTF">2021-03-16T13:53:13Z</dcterms:created>
  <dcterms:modified xsi:type="dcterms:W3CDTF">2025-03-25T16:37:45Z</dcterms:modified>
</cp:coreProperties>
</file>