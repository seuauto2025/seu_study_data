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286" r:id="rId5"/>
    <p:sldId id="284" r:id="rId6"/>
    <p:sldId id="279" r:id="rId7"/>
    <p:sldId id="281" r:id="rId8"/>
    <p:sldId id="282" r:id="rId9"/>
    <p:sldId id="270" r:id="rId10"/>
    <p:sldId id="258" r:id="rId11"/>
    <p:sldId id="259" r:id="rId12"/>
    <p:sldId id="283" r:id="rId13"/>
    <p:sldId id="280" r:id="rId14"/>
    <p:sldId id="268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8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4C936-259F-48ED-83D2-50DC01A792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1B4CA-6AA1-48BA-AF49-23E29A11FC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嵌入式系统及课程设计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7935" y="2794716"/>
            <a:ext cx="7645476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实验三</a:t>
            </a:r>
            <a:r>
              <a:rPr lang="en-US" altLang="zh-CN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  </a:t>
            </a:r>
            <a:r>
              <a:rPr lang="zh-CN" altLang="en-US" sz="4800" dirty="0">
                <a:latin typeface="华文仿宋" panose="02010600040101010101" pitchFamily="2" charset="-122"/>
                <a:ea typeface="华文仿宋" panose="02010600040101010101" pitchFamily="2" charset="-122"/>
              </a:rPr>
              <a:t>网络通信实验</a:t>
            </a:r>
            <a:endParaRPr lang="en-US" altLang="zh-CN" sz="4800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endParaRPr lang="en-US" altLang="zh-CN" sz="4800" dirty="0">
              <a:latin typeface="+mn-ea"/>
            </a:endParaRPr>
          </a:p>
          <a:p>
            <a:pPr algn="ctr"/>
            <a:r>
              <a:rPr lang="en-US" altLang="zh-CN" sz="3200">
                <a:latin typeface="+mn-ea"/>
                <a:sym typeface="+mn-ea"/>
              </a:rPr>
              <a:t>2025.02.24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实验三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  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网络通信实验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文本框 10"/>
          <p:cNvSpPr txBox="1"/>
          <p:nvPr/>
        </p:nvSpPr>
        <p:spPr>
          <a:xfrm>
            <a:off x="724437" y="1700012"/>
            <a:ext cx="8820590" cy="42767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本次实验你将学到：</a:t>
            </a:r>
            <a:endParaRPr lang="en-US" altLang="zh-CN" sz="32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32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计算机网络的基础知识；</a:t>
            </a:r>
            <a:endParaRPr lang="zh-CN" altLang="en-US" sz="24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计算机网络在嵌入式</a:t>
            </a:r>
            <a:r>
              <a:rPr lang="en-US" altLang="zh-CN" sz="2400" dirty="0">
                <a:latin typeface="+mn-ea"/>
              </a:rPr>
              <a:t> linux </a:t>
            </a:r>
            <a:r>
              <a:rPr lang="zh-CN" altLang="en-US" sz="2400" dirty="0">
                <a:latin typeface="+mn-ea"/>
              </a:rPr>
              <a:t>系统中的应用；</a:t>
            </a:r>
            <a:endParaRPr lang="zh-CN" altLang="en-US" sz="24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使用嵌入式</a:t>
            </a:r>
            <a:r>
              <a:rPr lang="en-US" altLang="zh-CN" sz="2400" dirty="0">
                <a:latin typeface="+mn-ea"/>
              </a:rPr>
              <a:t> linux </a:t>
            </a:r>
            <a:r>
              <a:rPr lang="zh-CN" altLang="en-US" sz="2400" dirty="0">
                <a:latin typeface="+mn-ea"/>
              </a:rPr>
              <a:t>系统中的计算机网络编程接口；</a:t>
            </a:r>
            <a:endParaRPr lang="zh-CN" altLang="en-US" sz="24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计算机网络应用软件的软件架构与编程技术；</a:t>
            </a:r>
            <a:endParaRPr lang="zh-CN" altLang="en-US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实验三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  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网络通信实验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7266" y="1491658"/>
            <a:ext cx="8820590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要求：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发送“学号姓名”及时间戳（年月日时分秒，可选毫秒，具体格式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不限）至网络调试助手； 热身实验，不验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 </a:t>
            </a:r>
            <a:r>
              <a:rPr lang="en-US" altLang="zh-CN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3.2 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要求：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再打开客户端，客户端显示连接成功，并且服务端返回要求客户端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登录，客户端显示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“Please enter user and pw”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客户端输入账号密码（正确的应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abc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def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），服务端返回登录成功，否则显示登陆失败（密码错误）；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先导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实验，不验</a:t>
            </a:r>
            <a:endParaRPr lang="zh-CN" altLang="en-US" sz="1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实验三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  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网络通信实验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5721" y="2558458"/>
            <a:ext cx="8820590" cy="1295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要求：完成上位机（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）的服务器软件，实现开发板作为客户端，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作为服务器端，开发板发送内容（电阻值、报警值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时间戳）给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端可以打印出发送的数据。 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实验三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  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网络通信实验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4699" y="1146220"/>
            <a:ext cx="882059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3.3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要求：完成上位机（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）的服务器软件，实现开发板作为客户端，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作为服务器端，开发板发送内容（电阻值、报警值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时间戳）给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端可以打印出发送的数据。                     嵌入式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用户端（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client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   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PC-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033" y="3034485"/>
            <a:ext cx="7236256" cy="3424839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02387" y="3891447"/>
            <a:ext cx="615553" cy="3640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</a:rPr>
              <a:t>最终效果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实验三 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 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网络通信实验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4699" y="1146220"/>
            <a:ext cx="882059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 </a:t>
            </a:r>
            <a:r>
              <a:rPr lang="en-US" altLang="zh-CN" sz="1800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：发送一个小文件（实验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数据文件、报警文件）到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端，并在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端保存该文件。请使用系统自带的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md5sum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工具分别在开发板端和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端人工校验文件的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md5 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码，以证明文件是完整的。 嵌入式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用户端（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client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   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PC-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文本框 13"/>
          <p:cNvSpPr txBox="1"/>
          <p:nvPr/>
        </p:nvSpPr>
        <p:spPr>
          <a:xfrm>
            <a:off x="702387" y="3891447"/>
            <a:ext cx="615553" cy="364066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dirty="0">
                <a:solidFill>
                  <a:srgbClr val="0070C0"/>
                </a:solidFill>
              </a:rPr>
              <a:t>最终效果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904" y="2580167"/>
            <a:ext cx="7455963" cy="3131613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317940" y="5821894"/>
            <a:ext cx="760592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(</a:t>
            </a:r>
            <a:r>
              <a:rPr lang="zh-CN" altLang="en-US" dirty="0"/>
              <a:t>注：校验码为</a:t>
            </a:r>
            <a:r>
              <a:rPr lang="en-US" altLang="zh-CN" dirty="0"/>
              <a:t>16</a:t>
            </a:r>
            <a:r>
              <a:rPr lang="zh-CN" altLang="en-US" dirty="0"/>
              <a:t>进制数据，需用</a:t>
            </a:r>
            <a:r>
              <a:rPr lang="en-US" altLang="zh-CN" dirty="0"/>
              <a:t>HEX</a:t>
            </a:r>
            <a:r>
              <a:rPr lang="zh-CN" altLang="en-US" dirty="0"/>
              <a:t>格式查看，在</a:t>
            </a:r>
            <a:r>
              <a:rPr lang="en-US" altLang="zh-CN" dirty="0"/>
              <a:t>ASCII</a:t>
            </a:r>
            <a:r>
              <a:rPr lang="zh-CN" altLang="en-US" dirty="0"/>
              <a:t>码格式下不能正常识别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实验三 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 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网络通信实验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33962" y="1256630"/>
            <a:ext cx="88205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提高部分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：现实生活中，基本上没有只允许单个客户端连接的服务器。请实现一个 </a:t>
            </a:r>
            <a:endParaRPr lang="zh-CN" altLang="en-US" b="0" i="0" u="none" strike="noStrike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可以同时连接多个客户端的服务端程序。注意实验提供的 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a_demo_mul_thread.c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源文件的编译，需要添加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lpthread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的选项，表示编译时链接 </a:t>
            </a:r>
            <a:r>
              <a:rPr lang="en-US" altLang="zh-CN" b="0" i="0" u="none" strike="noStrike" baseline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pthread</a:t>
            </a:r>
            <a:r>
              <a:rPr lang="en-US" altLang="zh-CN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en-US" altLang="zh-CN" b="0" i="0" u="none" strike="noStrike" baseline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        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PC-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用户端（</a:t>
            </a:r>
            <a:r>
              <a:rPr lang="en-US" altLang="zh-CN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client</a:t>
            </a:r>
            <a:r>
              <a:rPr lang="zh-CN" altLang="en-US" sz="1800" b="0" i="0" u="none" strike="noStrike" baseline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928" y="2617841"/>
            <a:ext cx="6521006" cy="384148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70002" y="2446043"/>
            <a:ext cx="553998" cy="44639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/>
              <a:t>在上位机实现多个用户端接入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86103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实验三 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 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网络通信实验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4535" y="1146175"/>
            <a:ext cx="8820785" cy="890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实验步骤：</a:t>
            </a:r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矩形 10"/>
          <p:cNvSpPr/>
          <p:nvPr/>
        </p:nvSpPr>
        <p:spPr>
          <a:xfrm>
            <a:off x="658495" y="2115820"/>
            <a:ext cx="2718435" cy="94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063625" y="2406015"/>
            <a:ext cx="2591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编写</a:t>
            </a:r>
            <a:r>
              <a:rPr lang="en-US" altLang="zh-CN" dirty="0"/>
              <a:t>.c</a:t>
            </a:r>
            <a:r>
              <a:rPr lang="zh-CN" altLang="en-US" dirty="0"/>
              <a:t>文件代码</a:t>
            </a:r>
            <a:endParaRPr lang="en-US" altLang="zh-CN" dirty="0"/>
          </a:p>
        </p:txBody>
      </p:sp>
      <p:sp>
        <p:nvSpPr>
          <p:cNvPr id="22" name="矩形 21"/>
          <p:cNvSpPr/>
          <p:nvPr>
            <p:custDataLst>
              <p:tags r:id="rId3"/>
            </p:custDataLst>
          </p:nvPr>
        </p:nvSpPr>
        <p:spPr>
          <a:xfrm>
            <a:off x="4074160" y="2116455"/>
            <a:ext cx="2718435" cy="94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  <a:latin typeface="+mn-ea"/>
                <a:sym typeface="+mn-ea"/>
              </a:rPr>
              <a:t>将代码传送到ubuntu上编译，产生可执行文件</a:t>
            </a:r>
            <a:endParaRPr lang="en-US" altLang="zh-CN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55625" y="5448300"/>
            <a:ext cx="838898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注：安装调试和编译方法可参考之前实验</a:t>
            </a:r>
            <a:endParaRPr lang="en-US" altLang="zh-CN" sz="2400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4"/>
            </p:custDataLst>
          </p:nvPr>
        </p:nvSpPr>
        <p:spPr>
          <a:xfrm>
            <a:off x="7489825" y="2115820"/>
            <a:ext cx="2718435" cy="94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将可执行文件载入嵌入式设备运行</a:t>
            </a:r>
            <a:endParaRPr lang="en-US" altLang="zh-CN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sp>
        <p:nvSpPr>
          <p:cNvPr id="25" name="矩形 24"/>
          <p:cNvSpPr/>
          <p:nvPr>
            <p:custDataLst>
              <p:tags r:id="rId5"/>
            </p:custDataLst>
          </p:nvPr>
        </p:nvSpPr>
        <p:spPr>
          <a:xfrm>
            <a:off x="7489825" y="3818890"/>
            <a:ext cx="2718435" cy="94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ym typeface="+mn-ea"/>
              </a:rPr>
              <a:t>根</a:t>
            </a:r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在个人</a:t>
            </a:r>
            <a:r>
              <a:rPr lang="en-US" altLang="zh-CN" dirty="0">
                <a:solidFill>
                  <a:schemeClr val="tx1"/>
                </a:solidFill>
                <a:latin typeface="+mn-ea"/>
                <a:sym typeface="+mn-ea"/>
              </a:rPr>
              <a:t>pc</a:t>
            </a:r>
            <a:r>
              <a:rPr lang="zh-CN" altLang="en-US" dirty="0">
                <a:solidFill>
                  <a:schemeClr val="tx1"/>
                </a:solidFill>
                <a:latin typeface="+mn-ea"/>
                <a:sym typeface="+mn-ea"/>
              </a:rPr>
              <a:t>上打开服务器端，从嵌入式设备上接入服务器</a:t>
            </a:r>
            <a:endParaRPr lang="zh-CN" altLang="en-US" dirty="0">
              <a:solidFill>
                <a:schemeClr val="tx1"/>
              </a:solidFill>
              <a:latin typeface="+mn-ea"/>
              <a:sym typeface="+mn-ea"/>
            </a:endParaRPr>
          </a:p>
        </p:txBody>
      </p:sp>
      <p:cxnSp>
        <p:nvCxnSpPr>
          <p:cNvPr id="26" name="直接箭头连接符 25"/>
          <p:cNvCxnSpPr/>
          <p:nvPr/>
        </p:nvCxnSpPr>
        <p:spPr>
          <a:xfrm>
            <a:off x="3512820" y="2638425"/>
            <a:ext cx="252730" cy="88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6"/>
            </p:custDataLst>
          </p:nvPr>
        </p:nvCxnSpPr>
        <p:spPr>
          <a:xfrm>
            <a:off x="7054850" y="2629535"/>
            <a:ext cx="252730" cy="88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>
            <p:custDataLst>
              <p:tags r:id="rId7"/>
            </p:custDataLst>
          </p:nvPr>
        </p:nvCxnSpPr>
        <p:spPr>
          <a:xfrm flipH="1">
            <a:off x="8844280" y="3313430"/>
            <a:ext cx="10160" cy="2559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实验三 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 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网络通信实验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724437" y="1146292"/>
            <a:ext cx="88205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代码组成：</a:t>
            </a:r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4535" y="2088515"/>
            <a:ext cx="4344035" cy="10611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工程组成介绍：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client.c</a:t>
            </a:r>
            <a:r>
              <a:rPr lang="zh-CN" altLang="en-US" sz="2000" dirty="0"/>
              <a:t>文件（</a:t>
            </a:r>
            <a:r>
              <a:rPr lang="en-US" altLang="zh-CN" sz="2000" dirty="0"/>
              <a:t>3.3     3.4</a:t>
            </a:r>
            <a:r>
              <a:rPr lang="zh-CN" altLang="en-US" sz="2000" dirty="0"/>
              <a:t>）</a:t>
            </a:r>
            <a:endParaRPr lang="en-US" altLang="zh-CN" sz="2000" dirty="0"/>
          </a:p>
        </p:txBody>
      </p:sp>
      <p:sp>
        <p:nvSpPr>
          <p:cNvPr id="10" name="文本框 9"/>
          <p:cNvSpPr txBox="1"/>
          <p:nvPr/>
        </p:nvSpPr>
        <p:spPr>
          <a:xfrm>
            <a:off x="821499" y="4290661"/>
            <a:ext cx="38777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时间戳相关变量</a:t>
            </a:r>
            <a:endParaRPr lang="en-US" altLang="zh-CN" dirty="0"/>
          </a:p>
          <a:p>
            <a:r>
              <a:rPr lang="en-US" altLang="zh-CN" dirty="0" err="1"/>
              <a:t>time_t</a:t>
            </a:r>
            <a:r>
              <a:rPr lang="en-US" altLang="zh-CN" dirty="0"/>
              <a:t> </a:t>
            </a:r>
            <a:r>
              <a:rPr lang="en-US" altLang="zh-CN" dirty="0" err="1"/>
              <a:t>current_time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struct tm* </a:t>
            </a:r>
            <a:r>
              <a:rPr lang="en-US" altLang="zh-CN" dirty="0" err="1"/>
              <a:t>timeinfo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char datetime[20];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889104" y="1405466"/>
            <a:ext cx="477889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需要用到的头文件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       // </a:t>
            </a:r>
            <a:r>
              <a:rPr lang="zh-CN" altLang="en-US" dirty="0"/>
              <a:t>标准输入输出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unistd.h</a:t>
            </a:r>
            <a:r>
              <a:rPr lang="en-US" altLang="zh-CN" dirty="0"/>
              <a:t>&gt;      // </a:t>
            </a:r>
            <a:r>
              <a:rPr lang="zh-CN" altLang="en-US" dirty="0"/>
              <a:t>系统调用（如 </a:t>
            </a:r>
            <a:r>
              <a:rPr lang="en-US" altLang="zh-CN" dirty="0"/>
              <a:t>read</a:t>
            </a:r>
            <a:r>
              <a:rPr lang="zh-CN" altLang="en-US" dirty="0"/>
              <a:t>、</a:t>
            </a:r>
            <a:r>
              <a:rPr lang="en-US" altLang="zh-CN" dirty="0"/>
              <a:t>write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stdlib.h</a:t>
            </a:r>
            <a:r>
              <a:rPr lang="en-US" altLang="zh-CN" dirty="0"/>
              <a:t>&gt;      // </a:t>
            </a:r>
            <a:r>
              <a:rPr lang="zh-CN" altLang="en-US" dirty="0"/>
              <a:t>标准库函数（如 </a:t>
            </a:r>
            <a:r>
              <a:rPr lang="en-US" altLang="zh-CN" dirty="0" err="1"/>
              <a:t>atoi</a:t>
            </a:r>
            <a:r>
              <a:rPr lang="zh-CN" altLang="en-US" dirty="0"/>
              <a:t>、</a:t>
            </a:r>
            <a:r>
              <a:rPr lang="en-US" altLang="zh-CN" dirty="0"/>
              <a:t>malloc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en-US" altLang="zh-CN" dirty="0"/>
              <a:t>#include &lt;sys/</a:t>
            </a:r>
            <a:r>
              <a:rPr lang="en-US" altLang="zh-CN" dirty="0" err="1"/>
              <a:t>socket.h</a:t>
            </a:r>
            <a:r>
              <a:rPr lang="en-US" altLang="zh-CN" dirty="0"/>
              <a:t>&gt;  // </a:t>
            </a:r>
            <a:r>
              <a:rPr lang="zh-CN" altLang="en-US" dirty="0"/>
              <a:t>套接字相关函数</a:t>
            </a:r>
            <a:endParaRPr lang="zh-CN" altLang="en-US" dirty="0"/>
          </a:p>
          <a:p>
            <a:r>
              <a:rPr lang="en-US" altLang="zh-CN" dirty="0"/>
              <a:t>#include &lt;sys/</a:t>
            </a:r>
            <a:r>
              <a:rPr lang="en-US" altLang="zh-CN" dirty="0" err="1"/>
              <a:t>stat.h</a:t>
            </a:r>
            <a:r>
              <a:rPr lang="en-US" altLang="zh-CN" dirty="0"/>
              <a:t>&gt;    // </a:t>
            </a:r>
            <a:r>
              <a:rPr lang="zh-CN" altLang="en-US" dirty="0"/>
              <a:t>文件状态信息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arpa</a:t>
            </a:r>
            <a:r>
              <a:rPr lang="en-US" altLang="zh-CN" dirty="0"/>
              <a:t>/</a:t>
            </a:r>
            <a:r>
              <a:rPr lang="en-US" altLang="zh-CN" dirty="0" err="1"/>
              <a:t>inet.h</a:t>
            </a:r>
            <a:r>
              <a:rPr lang="en-US" altLang="zh-CN" dirty="0"/>
              <a:t>&gt;   // IP </a:t>
            </a:r>
            <a:r>
              <a:rPr lang="zh-CN" altLang="en-US" dirty="0"/>
              <a:t>地址转换函数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string.h</a:t>
            </a:r>
            <a:r>
              <a:rPr lang="en-US" altLang="zh-CN" dirty="0"/>
              <a:t>&gt;      // </a:t>
            </a:r>
            <a:r>
              <a:rPr lang="zh-CN" altLang="en-US" dirty="0"/>
              <a:t>字符串操作函数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netinet</a:t>
            </a:r>
            <a:r>
              <a:rPr lang="en-US" altLang="zh-CN" dirty="0"/>
              <a:t>/</a:t>
            </a:r>
            <a:r>
              <a:rPr lang="en-US" altLang="zh-CN" dirty="0" err="1"/>
              <a:t>in.h</a:t>
            </a:r>
            <a:r>
              <a:rPr lang="en-US" altLang="zh-CN" dirty="0"/>
              <a:t>&gt;  // </a:t>
            </a:r>
            <a:r>
              <a:rPr lang="zh-CN" altLang="en-US" dirty="0"/>
              <a:t>网络地址结构</a:t>
            </a:r>
            <a:endParaRPr lang="zh-CN" altLang="en-US" dirty="0"/>
          </a:p>
          <a:p>
            <a:r>
              <a:rPr lang="en-US" altLang="zh-CN" dirty="0"/>
              <a:t>#include &lt;sys/</a:t>
            </a:r>
            <a:r>
              <a:rPr lang="en-US" altLang="zh-CN" dirty="0" err="1"/>
              <a:t>types.h</a:t>
            </a:r>
            <a:r>
              <a:rPr lang="en-US" altLang="zh-CN" dirty="0"/>
              <a:t>&gt;   // </a:t>
            </a:r>
            <a:r>
              <a:rPr lang="zh-CN" altLang="en-US" dirty="0"/>
              <a:t>数据类型定义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fcntl.h</a:t>
            </a:r>
            <a:r>
              <a:rPr lang="en-US" altLang="zh-CN" dirty="0"/>
              <a:t>&gt;       // </a:t>
            </a:r>
            <a:r>
              <a:rPr lang="zh-CN" altLang="en-US" dirty="0"/>
              <a:t>文件控制（如 </a:t>
            </a:r>
            <a:r>
              <a:rPr lang="en-US" altLang="zh-CN" dirty="0"/>
              <a:t>open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errno.h</a:t>
            </a:r>
            <a:r>
              <a:rPr lang="en-US" altLang="zh-CN" dirty="0"/>
              <a:t>&gt;       // </a:t>
            </a:r>
            <a:r>
              <a:rPr lang="zh-CN" altLang="en-US" dirty="0"/>
              <a:t>错误处理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termios.h</a:t>
            </a:r>
            <a:r>
              <a:rPr lang="en-US" altLang="zh-CN" dirty="0"/>
              <a:t>&gt;     // </a:t>
            </a:r>
            <a:r>
              <a:rPr lang="zh-CN" altLang="en-US" dirty="0"/>
              <a:t>终端控制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time.h</a:t>
            </a:r>
            <a:r>
              <a:rPr lang="en-US" altLang="zh-CN" dirty="0"/>
              <a:t>&gt;        // </a:t>
            </a:r>
            <a:r>
              <a:rPr lang="zh-CN" altLang="en-US" dirty="0"/>
              <a:t>时间函数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实验三 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 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网络通信实验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724437" y="1146292"/>
            <a:ext cx="88205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+mn-ea"/>
              </a:rPr>
              <a:t>代码组成：</a:t>
            </a:r>
            <a:endParaRPr lang="en-US" altLang="zh-CN" sz="3200" dirty="0">
              <a:latin typeface="+mn-ea"/>
            </a:endParaRPr>
          </a:p>
          <a:p>
            <a:endParaRPr lang="zh-CN" altLang="en-US" sz="3200" dirty="0">
              <a:latin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24535" y="2088515"/>
            <a:ext cx="4344035" cy="10611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工程组成介绍：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000" dirty="0" err="1"/>
              <a:t>Server.c</a:t>
            </a:r>
            <a:r>
              <a:rPr lang="zh-CN" altLang="en-US" sz="2000" dirty="0"/>
              <a:t>文件（提高）</a:t>
            </a:r>
            <a:endParaRPr lang="en-US" altLang="zh-CN" sz="2000" dirty="0"/>
          </a:p>
        </p:txBody>
      </p:sp>
      <p:sp>
        <p:nvSpPr>
          <p:cNvPr id="9" name="文本框 8"/>
          <p:cNvSpPr txBox="1"/>
          <p:nvPr/>
        </p:nvSpPr>
        <p:spPr>
          <a:xfrm>
            <a:off x="5554133" y="1693333"/>
            <a:ext cx="53509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stdlib.h</a:t>
            </a:r>
            <a:r>
              <a:rPr lang="en-US" altLang="zh-CN" dirty="0"/>
              <a:t>&gt;      // </a:t>
            </a:r>
            <a:r>
              <a:rPr lang="zh-CN" altLang="en-US" dirty="0"/>
              <a:t>标准库函数</a:t>
            </a:r>
            <a:endParaRPr lang="zh-CN" altLang="en-US" dirty="0"/>
          </a:p>
          <a:p>
            <a:r>
              <a:rPr lang="en-US" altLang="zh-CN" dirty="0"/>
              <a:t>#include &lt;sys/</a:t>
            </a:r>
            <a:r>
              <a:rPr lang="en-US" altLang="zh-CN" dirty="0" err="1"/>
              <a:t>types.h</a:t>
            </a:r>
            <a:r>
              <a:rPr lang="en-US" altLang="zh-CN" dirty="0"/>
              <a:t>&gt;   // </a:t>
            </a:r>
            <a:r>
              <a:rPr lang="zh-CN" altLang="en-US" dirty="0"/>
              <a:t>数据类型定义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       // </a:t>
            </a:r>
            <a:r>
              <a:rPr lang="zh-CN" altLang="en-US" dirty="0"/>
              <a:t>标准输入输出</a:t>
            </a:r>
            <a:endParaRPr lang="zh-CN" altLang="en-US" dirty="0"/>
          </a:p>
          <a:p>
            <a:r>
              <a:rPr lang="en-US" altLang="zh-CN" dirty="0"/>
              <a:t>#include &lt;sys/</a:t>
            </a:r>
            <a:r>
              <a:rPr lang="en-US" altLang="zh-CN" dirty="0" err="1"/>
              <a:t>socket.h</a:t>
            </a:r>
            <a:r>
              <a:rPr lang="en-US" altLang="zh-CN" dirty="0"/>
              <a:t>&gt;  // </a:t>
            </a:r>
            <a:r>
              <a:rPr lang="zh-CN" altLang="en-US" dirty="0"/>
              <a:t>套接字相关函数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netinet</a:t>
            </a:r>
            <a:r>
              <a:rPr lang="en-US" altLang="zh-CN" dirty="0"/>
              <a:t>/</a:t>
            </a:r>
            <a:r>
              <a:rPr lang="en-US" altLang="zh-CN" dirty="0" err="1"/>
              <a:t>in.h</a:t>
            </a:r>
            <a:r>
              <a:rPr lang="en-US" altLang="zh-CN" dirty="0"/>
              <a:t>&gt;  // </a:t>
            </a:r>
            <a:r>
              <a:rPr lang="zh-CN" altLang="en-US" dirty="0"/>
              <a:t>网络地址结构</a:t>
            </a:r>
            <a:endParaRPr lang="zh-CN" altLang="en-US" dirty="0"/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string.h</a:t>
            </a:r>
            <a:r>
              <a:rPr lang="en-US" altLang="zh-CN" dirty="0"/>
              <a:t>&gt;      // </a:t>
            </a:r>
            <a:r>
              <a:rPr lang="zh-CN" altLang="en-US" dirty="0"/>
              <a:t>字符串操作函数</a:t>
            </a:r>
            <a:endParaRPr lang="zh-CN" altLang="en-US" dirty="0"/>
          </a:p>
          <a:p>
            <a:r>
              <a:rPr lang="en-US" altLang="zh-CN" b="1" dirty="0"/>
              <a:t>#include &lt;</a:t>
            </a:r>
            <a:r>
              <a:rPr lang="en-US" altLang="zh-CN" b="1" dirty="0" err="1"/>
              <a:t>pthread.h</a:t>
            </a:r>
            <a:r>
              <a:rPr lang="en-US" altLang="zh-CN" b="1" dirty="0"/>
              <a:t>&gt;     // </a:t>
            </a:r>
            <a:r>
              <a:rPr lang="zh-CN" altLang="en-US" b="1" dirty="0"/>
              <a:t>线程相关函数</a:t>
            </a:r>
            <a:endParaRPr lang="zh-CN" altLang="en-US" b="1" dirty="0"/>
          </a:p>
        </p:txBody>
      </p:sp>
      <p:sp>
        <p:nvSpPr>
          <p:cNvPr id="12" name="文本框 11"/>
          <p:cNvSpPr txBox="1"/>
          <p:nvPr/>
        </p:nvSpPr>
        <p:spPr>
          <a:xfrm>
            <a:off x="724437" y="3996267"/>
            <a:ext cx="48296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实现方案：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每个客户端连接后，服务器会创建一个线程执行此函数。</a:t>
            </a:r>
            <a:endParaRPr lang="en-US" altLang="zh-CN" b="0" i="0" dirty="0">
              <a:solidFill>
                <a:srgbClr val="404040"/>
              </a:solidFill>
              <a:effectLst/>
              <a:latin typeface="Inter"/>
            </a:endParaRPr>
          </a:p>
          <a:p>
            <a:r>
              <a:rPr lang="zh-CN" altLang="en-US" dirty="0"/>
              <a:t>结束连接后切断线程。</a:t>
            </a:r>
            <a:endParaRPr lang="en-US" altLang="zh-CN" dirty="0"/>
          </a:p>
          <a:p>
            <a:r>
              <a:rPr lang="en-US" altLang="zh-CN" b="0" i="0" dirty="0" err="1">
                <a:solidFill>
                  <a:srgbClr val="404040"/>
                </a:solidFill>
                <a:effectLst/>
                <a:latin typeface="Inter"/>
              </a:rPr>
              <a:t>pthread_create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：创建线程。</a:t>
            </a:r>
            <a:endParaRPr lang="zh-CN" altLang="en-US" b="0" i="0" dirty="0">
              <a:solidFill>
                <a:srgbClr val="404040"/>
              </a:solidFill>
              <a:effectLst/>
              <a:latin typeface="Inter"/>
            </a:endParaRPr>
          </a:p>
          <a:p>
            <a:r>
              <a:rPr lang="en-US" altLang="zh-CN" b="0" i="0" dirty="0" err="1">
                <a:solidFill>
                  <a:srgbClr val="404040"/>
                </a:solidFill>
                <a:effectLst/>
                <a:latin typeface="Inter"/>
              </a:rPr>
              <a:t>pthread_exit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Inter"/>
              </a:rPr>
              <a:t>：退出线程。</a:t>
            </a:r>
            <a:endParaRPr lang="zh-CN" altLang="en-US" b="0" i="0" dirty="0">
              <a:solidFill>
                <a:srgbClr val="404040"/>
              </a:solidFill>
              <a:effectLst/>
              <a:latin typeface="Inte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8" y="218941"/>
            <a:ext cx="639673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实验三 </a:t>
            </a:r>
            <a:r>
              <a:rPr lang="en-US" altLang="zh-CN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 </a:t>
            </a:r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  <a:sym typeface="+mn-ea"/>
              </a:rPr>
              <a:t>网络通信实验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27785" y="1786890"/>
            <a:ext cx="9536430" cy="36429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注意事项：</a:t>
            </a:r>
            <a:endParaRPr lang="zh-CN" altLang="en-US" sz="2400" b="1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1.</a:t>
            </a:r>
            <a:r>
              <a:rPr lang="zh-CN" altLang="en-US" sz="2000" dirty="0">
                <a:latin typeface="+mn-ea"/>
              </a:rPr>
              <a:t>注意连接时的端口号匹配</a:t>
            </a:r>
            <a:endParaRPr lang="zh-CN" altLang="en-US" sz="20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ea"/>
              </a:rPr>
              <a:t>2.</a:t>
            </a:r>
            <a:r>
              <a:rPr lang="zh-CN" altLang="en-US" sz="2000" dirty="0">
                <a:latin typeface="+mn-ea"/>
              </a:rPr>
              <a:t>注意线程释放的问题，减轻</a:t>
            </a:r>
            <a:r>
              <a:rPr lang="en-US" altLang="zh-CN" sz="2000" dirty="0" err="1">
                <a:latin typeface="+mn-ea"/>
              </a:rPr>
              <a:t>cpu</a:t>
            </a:r>
            <a:r>
              <a:rPr lang="zh-CN" altLang="en-US" sz="2000" dirty="0">
                <a:latin typeface="+mn-ea"/>
              </a:rPr>
              <a:t>负担</a:t>
            </a:r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  <a:p>
            <a:endParaRPr lang="en-US" altLang="zh-CN" sz="20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"/>
          <p:cNvGrpSpPr/>
          <p:nvPr/>
        </p:nvGrpSpPr>
        <p:grpSpPr>
          <a:xfrm rot="10800000" flipV="1">
            <a:off x="0" y="1036106"/>
            <a:ext cx="12192000" cy="110114"/>
            <a:chOff x="2055030" y="1463669"/>
            <a:chExt cx="2304256" cy="544908"/>
          </a:xfrm>
        </p:grpSpPr>
        <p:sp>
          <p:nvSpPr>
            <p:cNvPr id="3" name="Rectangle 4"/>
            <p:cNvSpPr/>
            <p:nvPr/>
          </p:nvSpPr>
          <p:spPr>
            <a:xfrm>
              <a:off x="2055030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6"/>
            <p:cNvSpPr/>
            <p:nvPr/>
          </p:nvSpPr>
          <p:spPr>
            <a:xfrm>
              <a:off x="2631094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7"/>
            <p:cNvSpPr/>
            <p:nvPr/>
          </p:nvSpPr>
          <p:spPr>
            <a:xfrm>
              <a:off x="3207158" y="1463669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8"/>
            <p:cNvSpPr/>
            <p:nvPr/>
          </p:nvSpPr>
          <p:spPr>
            <a:xfrm>
              <a:off x="3783222" y="1463670"/>
              <a:ext cx="576064" cy="54490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903" y="7178"/>
            <a:ext cx="1535097" cy="1139042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44699" y="218941"/>
            <a:ext cx="5606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latin typeface="华光楷体_CNKI" panose="02000500000000000000" pitchFamily="2" charset="-122"/>
                <a:ea typeface="华光楷体_CNKI" panose="02000500000000000000" pitchFamily="2" charset="-122"/>
              </a:rPr>
              <a:t>嵌入式系统及课程设计</a:t>
            </a:r>
            <a:endParaRPr lang="zh-CN" altLang="en-US" sz="4000" dirty="0">
              <a:latin typeface="华光楷体_CNKI" panose="02000500000000000000" pitchFamily="2" charset="-122"/>
              <a:ea typeface="华光楷体_CNKI" panose="020005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797935" y="2794716"/>
            <a:ext cx="6106732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Thanks</a:t>
            </a:r>
            <a:endParaRPr lang="en-US" altLang="zh-CN" sz="48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algn="ctr"/>
            <a:endParaRPr lang="en-US" altLang="zh-CN" sz="4800" dirty="0">
              <a:latin typeface="+mn-ea"/>
            </a:endParaRPr>
          </a:p>
          <a:p>
            <a:pPr algn="ctr"/>
            <a:r>
              <a:rPr lang="en-US" altLang="zh-CN" sz="2400" dirty="0">
                <a:latin typeface="+mn-ea"/>
              </a:rPr>
              <a:t>2025.02.24</a:t>
            </a:r>
            <a:endParaRPr lang="zh-CN" altLang="en-US" sz="2400" dirty="0">
              <a:latin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5027" y="4767599"/>
            <a:ext cx="2223752" cy="16917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PP_MARK_KEY" val="76ac0f91-362c-45fb-b0bb-ebf46fb0698a"/>
  <p:tag name="COMMONDATA" val="eyJoZGlkIjoiNTcwOTc3MzM4NmU2MmYyNWJkNWMzMTY2MjhlOGQ4N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2097</Words>
  <Application>WPS 演示</Application>
  <PresentationFormat>宽屏</PresentationFormat>
  <Paragraphs>136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华光楷体_CNKI</vt:lpstr>
      <vt:lpstr>华文仿宋</vt:lpstr>
      <vt:lpstr>微软雅黑</vt:lpstr>
      <vt:lpstr>Inter</vt:lpstr>
      <vt:lpstr>等线</vt:lpstr>
      <vt:lpstr>Arial Unicode MS</vt:lpstr>
      <vt:lpstr>等线 Light</vt:lpstr>
      <vt:lpstr>Calibri</vt:lpstr>
      <vt:lpstr>Segoe Print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HN Z</dc:creator>
  <cp:lastModifiedBy>宋昊轩</cp:lastModifiedBy>
  <cp:revision>36</cp:revision>
  <dcterms:created xsi:type="dcterms:W3CDTF">2021-03-16T13:53:00Z</dcterms:created>
  <dcterms:modified xsi:type="dcterms:W3CDTF">2025-02-23T15:17:28Z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2DA37C823FE5492C9E7FF155BEA05565</vt:lpwstr>
  </property>
  <property fmtid="{D5CDD505-2E9C-101B-9397-08002B2CF9AE}" pid="3" name="KSOProductBuildVer">
    <vt:lpwstr>2052-12.1.0.20305</vt:lpwstr>
  </property>
</Properties>
</file>